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68415be36d42fd" /><Relationship Type="http://schemas.openxmlformats.org/officeDocument/2006/relationships/extended-properties" Target="/docProps/app.xml" Id="Ra69fef51896849c0" /><Relationship Type="http://schemas.openxmlformats.org/officeDocument/2006/relationships/officeDocument" Target="/ppt/presentation.xml" Id="Rd6b96d0763d442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1d5c3bbf334e55"/>
  </p:sldMasterIdLst>
  <p:notesMasterIdLst>
    <p:notesMasterId xmlns:r="http://schemas.openxmlformats.org/officeDocument/2006/relationships" r:id="R99b889b07ae24eda"/>
  </p:notesMasterIdLst>
  <p:sldIdLst>
    <p:sldId xmlns:r="http://schemas.openxmlformats.org/officeDocument/2006/relationships" id="256" r:id="R87c849d22ff74966"/>
    <p:sldId xmlns:r="http://schemas.openxmlformats.org/officeDocument/2006/relationships" id="257" r:id="Raf2861095a674e9f"/>
    <p:sldId xmlns:r="http://schemas.openxmlformats.org/officeDocument/2006/relationships" id="258" r:id="R45209f1355f241fe"/>
    <p:sldId xmlns:r="http://schemas.openxmlformats.org/officeDocument/2006/relationships" id="259" r:id="R445b543cd5544438"/>
    <p:sldId xmlns:r="http://schemas.openxmlformats.org/officeDocument/2006/relationships" id="260" r:id="Rdaf33558883d4710"/>
    <p:sldId xmlns:r="http://schemas.openxmlformats.org/officeDocument/2006/relationships" id="261" r:id="R95d09fa5e8d8476b"/>
    <p:sldId xmlns:r="http://schemas.openxmlformats.org/officeDocument/2006/relationships" id="262" r:id="R17c493118b29421b"/>
    <p:sldId xmlns:r="http://schemas.openxmlformats.org/officeDocument/2006/relationships" id="263" r:id="R8cc3aa9c47354fdf"/>
    <p:sldId xmlns:r="http://schemas.openxmlformats.org/officeDocument/2006/relationships" id="264" r:id="R30ae48f5743e4d6f"/>
    <p:sldId xmlns:r="http://schemas.openxmlformats.org/officeDocument/2006/relationships" id="265" r:id="Rfa8f4467d6da4b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ad1121713a47ed" /><Relationship Type="http://schemas.openxmlformats.org/officeDocument/2006/relationships/slideMaster" Target="/ppt/slideMasters/slideMaster1.xml" Id="R651d5c3bbf334e55" /><Relationship Type="http://schemas.openxmlformats.org/officeDocument/2006/relationships/notesMaster" Target="/ppt/notesMasters/notesMaster1.xml" Id="R99b889b07ae24eda" /><Relationship Type="http://schemas.openxmlformats.org/officeDocument/2006/relationships/presProps" Target="/ppt/presProps.xml" Id="R51f48341caae448d" /><Relationship Type="http://schemas.openxmlformats.org/officeDocument/2006/relationships/tableStyles" Target="/ppt/tableStyles.xml" Id="Reae3ab86a5da4118" /><Relationship Type="http://schemas.openxmlformats.org/officeDocument/2006/relationships/slide" Target="/ppt/slides/slide1.xml" Id="R87c849d22ff74966" /><Relationship Type="http://schemas.openxmlformats.org/officeDocument/2006/relationships/slide" Target="/ppt/slides/slide2.xml" Id="Raf2861095a674e9f" /><Relationship Type="http://schemas.openxmlformats.org/officeDocument/2006/relationships/slide" Target="/ppt/slides/slide3.xml" Id="R45209f1355f241fe" /><Relationship Type="http://schemas.openxmlformats.org/officeDocument/2006/relationships/slide" Target="/ppt/slides/slide4.xml" Id="R445b543cd5544438" /><Relationship Type="http://schemas.openxmlformats.org/officeDocument/2006/relationships/slide" Target="/ppt/slides/slide5.xml" Id="Rdaf33558883d4710" /><Relationship Type="http://schemas.openxmlformats.org/officeDocument/2006/relationships/slide" Target="/ppt/slides/slide6.xml" Id="R95d09fa5e8d8476b" /><Relationship Type="http://schemas.openxmlformats.org/officeDocument/2006/relationships/slide" Target="/ppt/slides/slide7.xml" Id="R17c493118b29421b" /><Relationship Type="http://schemas.openxmlformats.org/officeDocument/2006/relationships/slide" Target="/ppt/slides/slide8.xml" Id="R8cc3aa9c47354fdf" /><Relationship Type="http://schemas.openxmlformats.org/officeDocument/2006/relationships/slide" Target="/ppt/slides/slide9.xml" Id="R30ae48f5743e4d6f" /><Relationship Type="http://schemas.openxmlformats.org/officeDocument/2006/relationships/slide" Target="/ppt/slides/slide10.xml" Id="Rfa8f4467d6da4b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3d6b6f94f44c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16720c7f084c87" /><Relationship Type="http://schemas.openxmlformats.org/officeDocument/2006/relationships/notesMaster" Target="/ppt/notesMasters/notesMaster1.xml" Id="R05da6d22366844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4b9596de5948f1" /><Relationship Type="http://schemas.openxmlformats.org/officeDocument/2006/relationships/notesMaster" Target="/ppt/notesMasters/notesMaster1.xml" Id="R4e2babf26d1244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8797c1a7644611" /><Relationship Type="http://schemas.openxmlformats.org/officeDocument/2006/relationships/notesMaster" Target="/ppt/notesMasters/notesMaster1.xml" Id="R9822d609271548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08659e6fb74bab" /><Relationship Type="http://schemas.openxmlformats.org/officeDocument/2006/relationships/notesMaster" Target="/ppt/notesMasters/notesMaster1.xml" Id="R57ff1fc7ca2d4a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817d556fdc4e3a" /><Relationship Type="http://schemas.openxmlformats.org/officeDocument/2006/relationships/notesMaster" Target="/ppt/notesMasters/notesMaster1.xml" Id="R38610caeae3f44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cadd29e9a7429b" /><Relationship Type="http://schemas.openxmlformats.org/officeDocument/2006/relationships/notesMaster" Target="/ppt/notesMasters/notesMaster1.xml" Id="Rcd28f817b56b41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daf2abaf4447a2" /><Relationship Type="http://schemas.openxmlformats.org/officeDocument/2006/relationships/notesMaster" Target="/ppt/notesMasters/notesMaster1.xml" Id="R254105cd8e7745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95e25e284f42fb" /><Relationship Type="http://schemas.openxmlformats.org/officeDocument/2006/relationships/notesMaster" Target="/ppt/notesMasters/notesMaster1.xml" Id="R971f4e33143143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f55e46e98b430c" /><Relationship Type="http://schemas.openxmlformats.org/officeDocument/2006/relationships/notesMaster" Target="/ppt/notesMasters/notesMaster1.xml" Id="R5242c954a7ce42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580693a41c42bb" /><Relationship Type="http://schemas.openxmlformats.org/officeDocument/2006/relationships/notesMaster" Target="/ppt/notesMasters/notesMaster1.xml" Id="R78c54096832744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GreatPM product-management buildathon submission. Native package v1.1.6. Source: https://github.com/VandanaAjayDubey111/great-pm. No adoption or outcome metrics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Intended users and pain statements are product hypotheses, not independently validated market findings. Source: https://github.com/VandanaAjayDubey111/great-pm/blob/main/README.md. Talk track: focus on deciding which product to build and why. Task tracking supports that process.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https://github.com/VandanaAjayDubey111/great-pm/blob/main/README.md and native package v1.1.6 inventory. Counts are separate categories, not simultaneous agents, adoption or test coverage: 48 specialist definitions, 79 product-management skills, 34 workflows and 26 templates.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https://github.com/VandanaAjayDubey111/great-pm/blob/main/README.md and https://github.com/VandanaAjayDubey111/great-pm/blob/main/docs/CODEX.md. Only the human may approve gate:strategy, gate:spec and gate:launch. The specification gate precedes build. Measure feeds the next discovery cycle.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example only. Source: https://github.com/VandanaAjayDubey111/great-pm/blob/main/agents/grill-me.md. Codex public name is $grill-me. It asks adaptive rounds about the situation, widens understanding, records unknowns and produces a situation brief at any stage when thinking is fuzzy. The human can answer, skip or override. Inspiration credit: Matt Pocock, https://www.aihero.dev/my-grill-me-skill-has-gone-viral.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image: https://github.com/VandanaAjayDubey111/great-pm/blob/main/docs/screenshots/board.png. All Lumen records are demo data, not evidence of customers, adoption or a real beta. Talk track: point to pending gates and unresolved product choices.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https://github.com/VandanaAjayDubey111/great-pm/blob/main/docs/CODEX.md and prepared MCP implementation https://github.com/VandanaAjayDubey111/great-pm/pull/3. The public MCP does not run the specialist harness, access project files or write to external tools.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Prepared implementation source: https://github.com/VandanaAjayDubey111/great-pm/pull/3, docs/MCP.md and curated catalog. Counts describe the implementation, not a new hosted release: 28 methods, 10 templates, 11 prompts, three tools.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https://github.com/VandanaAjayDubey111/great-pm/blob/main/NOTICE.md; https://github.com/VandanaAjayDubey111/great-pm/blob/main/docs/CODEX.md; https://github.com/VandanaAjayDubey111/great-pm/pull/3 docs/MCP-ARCHITECTURE.md. Foundation: https://github.com/avelikiy/great_cto via https://github.com/ajayd942/great_cto. GreatPM adapts plugin/orchestration/board/memory/gates to product management. Codex packaging preserves canonical public names while mapping internal role identifiers and carrying supporting files. MCP uses the TypeScript SDK and stateless Streamable HTTP with a curated static allowlist. Native source and generated package are versioned in Git.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package v1.1.6 merged into main, as confirmed in project conversation. Source: https://github.com/VandanaAjayDubey111/great-pm/blob/main/docs/CODEX.md. Prepared MCP implementation: https://github.com/VandanaAjayDubey111/great-pm/pull/3. No newly completed MCP deployment is part of this submission. The only real user feedback summarized here is creator feedback. Future validation is not completed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5b0214fbf74a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94f27012f940ae" /><Relationship Type="http://schemas.openxmlformats.org/officeDocument/2006/relationships/slideLayout" Target="/ppt/slideLayouts/slideLayout1.xml" Id="R863912944f674d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3912944f674d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fd67cd15a42e9" /><Relationship Type="http://schemas.openxmlformats.org/officeDocument/2006/relationships/notesSlide" Target="/ppt/notesSlides/notesSlide1.xml" Id="Rc1f71fc05ef342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7ed5da00a4913" /><Relationship Type="http://schemas.openxmlformats.org/officeDocument/2006/relationships/notesSlide" Target="/ppt/notesSlides/notesSlide2.xml" Id="R46baceb64a6449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a2a6e803043e2" /><Relationship Type="http://schemas.openxmlformats.org/officeDocument/2006/relationships/notesSlide" Target="/ppt/notesSlides/notesSlide3.xml" Id="R4203cdffbe3941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0c7a644af4c75" /><Relationship Type="http://schemas.openxmlformats.org/officeDocument/2006/relationships/notesSlide" Target="/ppt/notesSlides/notesSlide4.xml" Id="Ra77b1393aab64d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d1e781ff14f49" /><Relationship Type="http://schemas.openxmlformats.org/officeDocument/2006/relationships/notesSlide" Target="/ppt/notesSlides/notesSlide5.xml" Id="R4fda57aefca248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d89a2c88340c9" /><Relationship Type="http://schemas.openxmlformats.org/officeDocument/2006/relationships/image" Target="/ppt/media/image.png" Id="R1227fa6efd974bd2" /><Relationship Type="http://schemas.openxmlformats.org/officeDocument/2006/relationships/notesSlide" Target="/ppt/notesSlides/notesSlide6.xml" Id="Re8443cf3760c43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48c311d1e41b2" /><Relationship Type="http://schemas.openxmlformats.org/officeDocument/2006/relationships/notesSlide" Target="/ppt/notesSlides/notesSlide7.xml" Id="R2bc726f7c8bc4d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3dba6f28f4268" /><Relationship Type="http://schemas.openxmlformats.org/officeDocument/2006/relationships/notesSlide" Target="/ppt/notesSlides/notesSlide8.xml" Id="R6812f385c5f14e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ec6837a1d4ec7" /><Relationship Type="http://schemas.openxmlformats.org/officeDocument/2006/relationships/notesSlide" Target="/ppt/notesSlides/notesSlide9.xml" Id="R29fabf9ecc9242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ad9642eec4235" /><Relationship Type="http://schemas.openxmlformats.org/officeDocument/2006/relationships/notesSlide" Target="/ppt/notesSlides/notesSlide10.xml" Id="Rb6c79660368943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0727F-24D8-4B65-8BEA-333E7C19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76D3F-8422-4905-AD97-3EE3713B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0" b="1">
                <a:solidFill>
                  <a:srgbClr val="F4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0" b="1">
                <a:solidFill>
                  <a:srgbClr val="F4F1E7"/>
                </a:solidFill>
                <a:latin typeface="Helvetica Neue"/>
                <a:ea typeface="Helvetica Neue"/>
                <a:cs typeface="Helvetica Neue"/>
              </a:rPr>
              <a:t>GreatPM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301F8-65BD-4657-B7B9-F5CDE689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7177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F4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4F1E7"/>
                </a:solidFill>
                <a:latin typeface="Helvetica Neue"/>
                <a:ea typeface="Helvetica Neue"/>
                <a:cs typeface="Helvetica Neue"/>
              </a:rPr>
              <a:t>An AI product-management operating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65E14-F0E4-4A4B-93A1-672A900F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rPr>
              <a:t>Native plugins for Codex and Claude Code</a:t>
            </a:r>
          </a:p>
          <a:p xmlns:a="http://schemas.openxmlformats.org/drawingml/2006/main">
            <a:pPr>
              <a:defRPr sz="2025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rPr>
              <a:t>Optional read-only MCP knowledge channel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C104C-44F1-43D4-8027-D2320C2D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rPr>
              <a:t>Vandana Ajay Dubey</a:t>
            </a:r>
          </a:p>
          <a:p xmlns:a="http://schemas.openxmlformats.org/drawingml/2006/main">
            <a:pPr>
              <a:defRPr sz="1650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rPr>
              <a:t>Assignment 4 - C51</a:t>
            </a:r>
          </a:p>
        </p:txBody>
      </p:sp>
    </p:spTree>
    <p:extLst>
      <p:ext uri="{BB962C8B-B14F-4D97-AF65-F5344CB8AC3E}">
        <p14:creationId xmlns:p14="http://schemas.microsoft.com/office/powerpoint/2010/main" val="7876641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A070C-8089-467E-8B13-E46BEDA1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The product decision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8D014-6037-4673-8D51-F5048CFE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5693E-3EB1-4C2E-9F60-5A4B8521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621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6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6756B"/>
                </a:solidFill>
                <a:latin typeface="Helvetica Neue"/>
                <a:ea typeface="Helvetica Neue"/>
                <a:cs typeface="Helvetica Neue"/>
              </a:rPr>
              <a:t>Intended users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E8BC5-4321-47DB-8C27-734AD118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0144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Founder-PMs and small product teams</a:t>
            </a:r>
          </a:p>
          <a:p xmlns:a="http://schemas.openxmlformats.org/drawingml/2006/main">
            <a:pPr>
              <a:defRPr sz="28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working inside an AI coding environment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C9A71-B7C0-4730-830D-B595EF14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99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A fuzzy request can become a build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3F47A-EFD7-4A47-B21D-D2919963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rPr>
              <a:t>The user, desired outcome and evidence may remain unclear while an AI assistant starts producing artifacts.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941BE-A64C-4F60-A57F-26635498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9975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Context fragments across the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8E047-2D46-49B9-896E-3686F2F5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62425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rPr>
              <a:t>Research, strategy and product requirements need continuity as the team moves toward launch.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A6570-2499-442D-8A81-3F2162FE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62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rPr>
              <a:t>Product hypotheses to validate with independent users</a:t>
            </a:r>
          </a:p>
        </p:txBody>
      </p:sp>
    </p:spTree>
    <p:extLst>
      <p:ext uri="{BB962C8B-B14F-4D97-AF65-F5344CB8AC3E}">
        <p14:creationId xmlns:p14="http://schemas.microsoft.com/office/powerpoint/2010/main" val="6116073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36331-0ED2-4A6F-9ABC-FE0D5AE9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The GreatPM proposition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EBB4F-3BCE-47AC-ACFC-9A62A22F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0B7E4-5BF1-489C-8424-E93E7104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A structured product process in the AI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F52E9-B5F1-4925-9300-0667562E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rPr>
              <a:t>Specialist roles draft the work. Project memory carries context.</a:t>
            </a:r>
          </a:p>
          <a:p xmlns:a="http://schemas.openxmlformats.org/drawingml/2006/main">
            <a:pPr>
              <a:defRPr sz="2175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rPr>
              <a:t>The human approves consequential decisions.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3800475"/>
          <a:ext xmlns:a="http://schemas.openxmlformats.org/drawingml/2006/main" cx="109728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143250"/>
                <a:gridCol w="2571750"/>
                <a:gridCol w="2590800"/>
              </a:tblGrid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4F1E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48</a:t>
                      </a:r>
                    </a:p>
                  </a:txBody>
                  <a:tcPr marL="152400" marR="152400" marT="114300" marB="95250" anchor="ctr">
                    <a:solidFill>
                      <a:srgbClr val="173F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4F1E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79</a:t>
                      </a:r>
                    </a:p>
                  </a:txBody>
                  <a:tcPr marL="152400" marR="152400" marT="114300" marB="95250" anchor="ctr">
                    <a:solidFill>
                      <a:srgbClr val="173F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4F1E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34</a:t>
                      </a:r>
                    </a:p>
                  </a:txBody>
                  <a:tcPr marL="152400" marR="152400" marT="114300" marB="95250" anchor="ctr">
                    <a:solidFill>
                      <a:srgbClr val="173F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4F1E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26</a:t>
                      </a:r>
                    </a:p>
                  </a:txBody>
                  <a:tcPr marL="152400" marR="152400" marT="114300" marB="95250" anchor="ctr">
                    <a:solidFill>
                      <a:srgbClr val="173F35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Specialist</a:t>
                      </a:r>
                    </a:p>
                    <a:p>
                      <a:r>
                        <a:rPr sz="21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definitions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Product-management</a:t>
                      </a:r>
                    </a:p>
                    <a:p>
                      <a:r>
                        <a:rPr sz="21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skills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Workflows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Templates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0D7AC-69CF-460B-843B-96D73E55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483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Full native package in Codex and Claude Code</a:t>
            </a:r>
          </a:p>
        </p:txBody>
      </p:sp>
    </p:spTree>
    <p:extLst>
      <p:ext uri="{BB962C8B-B14F-4D97-AF65-F5344CB8AC3E}">
        <p14:creationId xmlns:p14="http://schemas.microsoft.com/office/powerpoint/2010/main" val="8047094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BF3A3-73EB-49AE-B0DF-76AB18DB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Six stages with three human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381E4-3A89-4FA2-B0EC-0961E0DB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3352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5143500"/>
                <a:gridCol w="3495675"/>
              </a:tblGrid>
              <a:tr h="612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4F1E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152400" marR="152400" marT="114300" marB="95250" anchor="ctr">
                    <a:solidFill>
                      <a:srgbClr val="173F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4F1E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Typical product work</a:t>
                      </a:r>
                    </a:p>
                  </a:txBody>
                  <a:tcPr marL="152400" marR="152400" marT="114300" marB="95250" anchor="ctr">
                    <a:solidFill>
                      <a:srgbClr val="173F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4F1E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Human control</a:t>
                      </a:r>
                    </a:p>
                  </a:txBody>
                  <a:tcPr marL="152400" marR="152400" marT="114300" marB="95250" anchor="ctr">
                    <a:solidFill>
                      <a:srgbClr val="173F35"/>
                    </a:solidFill>
                  </a:tcPr>
                </a:tc>
              </a:tr>
              <a:tr h="612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Discover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and customer needs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</a:tr>
              <a:tr h="612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Strategize</a:t>
                      </a:r>
                    </a:p>
                  </a:txBody>
                  <a:tcPr marL="152400" marR="152400" marT="114300" marB="95250" anchor="ctr">
                    <a:solidFill>
                      <a:srgbClr val="E8ED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Positioning and product direction</a:t>
                      </a:r>
                    </a:p>
                  </a:txBody>
                  <a:tcPr marL="152400" marR="152400" marT="114300" marB="95250" anchor="ctr">
                    <a:solidFill>
                      <a:srgbClr val="E8ED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52400" marR="152400" marT="114300" marB="95250" anchor="ctr">
                    <a:solidFill>
                      <a:srgbClr val="E8EDE3"/>
                    </a:solidFill>
                  </a:tcPr>
                </a:tc>
              </a:tr>
              <a:tr h="612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Prioritize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Tradeoffs and roadmap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Strategy approval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</a:tr>
              <a:tr h="612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Define</a:t>
                      </a:r>
                    </a:p>
                  </a:txBody>
                  <a:tcPr marL="152400" marR="152400" marT="114300" marB="95250" anchor="ctr">
                    <a:solidFill>
                      <a:srgbClr val="E8ED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PRD and success metrics</a:t>
                      </a:r>
                    </a:p>
                  </a:txBody>
                  <a:tcPr marL="152400" marR="152400" marT="114300" marB="95250" anchor="ctr">
                    <a:solidFill>
                      <a:srgbClr val="E8ED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Specification approval</a:t>
                      </a:r>
                    </a:p>
                  </a:txBody>
                  <a:tcPr marL="152400" marR="152400" marT="114300" marB="95250" anchor="ctr">
                    <a:solidFill>
                      <a:srgbClr val="E8EDE3"/>
                    </a:solidFill>
                  </a:tcPr>
                </a:tc>
              </a:tr>
              <a:tr h="612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Launch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Readiness and rollout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Launch approval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</a:tr>
              <a:tr h="612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152400" marR="152400" marT="114300" marB="95250" anchor="ctr">
                    <a:solidFill>
                      <a:srgbClr val="E8ED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Results and next questions</a:t>
                      </a:r>
                    </a:p>
                  </a:txBody>
                  <a:tcPr marL="152400" marR="152400" marT="114300" marB="95250" anchor="ctr">
                    <a:solidFill>
                      <a:srgbClr val="E8ED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Next discovery cycle</a:t>
                      </a:r>
                    </a:p>
                  </a:txBody>
                  <a:tcPr marL="152400" marR="152400" marT="114300" marB="95250" anchor="ctr">
                    <a:solidFill>
                      <a:srgbClr val="E8EDE3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B51D5-DB19-45F4-B762-0DAE953B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Agents propose. The human approves strategy, specification and launch.</a:t>
            </a:r>
          </a:p>
        </p:txBody>
      </p:sp>
    </p:spTree>
    <p:extLst>
      <p:ext uri="{BB962C8B-B14F-4D97-AF65-F5344CB8AC3E}">
        <p14:creationId xmlns:p14="http://schemas.microsoft.com/office/powerpoint/2010/main" val="15336936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6B0A3-7F86-487C-A30B-B6447662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4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4F1E7"/>
                </a:solidFill>
                <a:latin typeface="Helvetica Neue"/>
                <a:ea typeface="Helvetica Neue"/>
                <a:cs typeface="Helvetica Neue"/>
              </a:rPr>
              <a:t>GreatPM Grill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D8FFE-2FFB-4BA2-88A5-E7AD7B28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03A4C-9648-4A14-AB11-168267E3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4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F4F1E7"/>
                </a:solidFill>
                <a:latin typeface="Helvetica Neue"/>
                <a:ea typeface="Helvetica Neue"/>
                <a:cs typeface="Helvetica Neue"/>
              </a:rPr>
              <a:t>$grill-me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3210D-D12B-4D71-955B-7296F3BE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F4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F4F1E7"/>
                </a:solidFill>
                <a:latin typeface="Helvetica Neue"/>
                <a:ea typeface="Helvetica Neue"/>
                <a:cs typeface="Helvetica Neue"/>
              </a:rPr>
              <a:t>Challenges fuzzy thinking before a team commits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700E1-965D-4D2E-970B-68EA4AD3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4F1E7"/>
                </a:solidFill>
                <a:latin typeface="Helvetica Neue"/>
                <a:ea typeface="Helvetica Neue"/>
                <a:cs typeface="Helvetica Neue"/>
              </a:rPr>
              <a:t>Illustrative 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09C34-675E-4226-B55B-DDABC91B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9525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rPr>
              <a:t>“Add an AI onboarding assistant.”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9BD1E-DDE5-4B69-B4C9-826B977A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6707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4F1E7"/>
                </a:solidFill>
                <a:latin typeface="Helvetica Neue"/>
                <a:ea typeface="Helvetica Neue"/>
                <a:cs typeface="Helvetica Neue"/>
              </a:rPr>
              <a:t>Questions worth answering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90752-014E-47A5-8B39-555FD4AF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9525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rPr>
              <a:t>Who gets stuck today?</a:t>
            </a:r>
          </a:p>
          <a:p xmlns:a="http://schemas.openxmlformats.org/drawingml/2006/main">
            <a:pPr>
              <a:defRPr sz="2025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rPr>
              <a:t>Where does onboarding break?</a:t>
            </a:r>
          </a:p>
          <a:p xmlns:a="http://schemas.openxmlformats.org/drawingml/2006/main">
            <a:pPr>
              <a:defRPr sz="2025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rPr>
              <a:t>Could a simpler change solve it?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39FF1-2595-43B4-9AA3-98F4F470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rPr>
              <a:t>Output: a sharper situation brief and explicit unknowns.</a:t>
            </a:r>
          </a:p>
          <a:p xmlns:a="http://schemas.openxmlformats.org/drawingml/2006/main">
            <a:pPr>
              <a:defRPr sz="2025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8E5DA"/>
                </a:solidFill>
                <a:latin typeface="Helvetica Neue"/>
                <a:ea typeface="Helvetica Neue"/>
                <a:cs typeface="Helvetica Neue"/>
              </a:rPr>
              <a:t>The human can answer, skip or override.</a:t>
            </a:r>
          </a:p>
        </p:txBody>
      </p:sp>
    </p:spTree>
    <p:extLst>
      <p:ext uri="{BB962C8B-B14F-4D97-AF65-F5344CB8AC3E}">
        <p14:creationId xmlns:p14="http://schemas.microsoft.com/office/powerpoint/2010/main" val="10451821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0B012-433D-41C9-B5A5-A116474B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The local product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CD30B-6772-450D-8725-8BE41641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27284-C22D-4A82-9DA3-70AB3465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859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6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6756B"/>
                </a:solidFill>
                <a:latin typeface="Helvetica Neue"/>
                <a:ea typeface="Helvetica Neue"/>
                <a:cs typeface="Helvetica Neue"/>
              </a:rPr>
              <a:t>Demo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4CD3C-BD15-451A-BB7D-E95DE1A8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81225"/>
            <a:ext cx="3333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One place to inspect</a:t>
            </a:r>
          </a:p>
          <a:p xmlns:a="http://schemas.openxmlformats.org/drawingml/2006/main">
            <a:pPr>
              <a:defRPr sz="27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product work and</a:t>
            </a:r>
          </a:p>
          <a:p xmlns:a="http://schemas.openxmlformats.org/drawingml/2006/main">
            <a:pPr>
              <a:defRPr sz="27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pending decisions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44DAF-EFAE-4C97-82F1-6AD6E8A8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43375"/>
            <a:ext cx="3048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rPr>
              <a:t>A local view of the</a:t>
            </a:r>
          </a:p>
          <a:p xmlns:a="http://schemas.openxmlformats.org/drawingml/2006/main">
            <a:pPr>
              <a:defRPr sz="2100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rPr>
              <a:t>project’s .great-pm state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7fa6efd974bd2"/>
          <a:stretch xmlns:a="http://schemas.openxmlformats.org/drawingml/2006/main"/>
        </p:blipFill>
        <p:spPr>
          <a:xfrm xmlns:a="http://schemas.openxmlformats.org/drawingml/2006/main">
            <a:off x="3952875" y="1458913"/>
            <a:ext cx="7677150" cy="492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7956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BEA14-EED0-422C-8296-ED51705D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Native plugin and MCP have different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26CA5-D5D0-44B1-8A0D-36D688CC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200525"/>
                <a:gridCol w="4200525"/>
              </a:tblGrid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4F1E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Capability</a:t>
                      </a:r>
                    </a:p>
                  </a:txBody>
                  <a:tcPr marL="152400" marR="152400" marT="114300" marB="95250" anchor="ctr">
                    <a:solidFill>
                      <a:srgbClr val="173F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4F1E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Full native plugin</a:t>
                      </a:r>
                    </a:p>
                  </a:txBody>
                  <a:tcPr marL="152400" marR="152400" marT="114300" marB="95250" anchor="ctr">
                    <a:solidFill>
                      <a:srgbClr val="173F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4F1E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Optional public MCP</a:t>
                      </a:r>
                    </a:p>
                  </a:txBody>
                  <a:tcPr marL="152400" marR="152400" marT="114300" marB="95250" anchor="ctr">
                    <a:solidFill>
                      <a:srgbClr val="173F35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use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Run product workflows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Retrieve methods and prepare plans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 knowledge</a:t>
                      </a:r>
                    </a:p>
                  </a:txBody>
                  <a:tcPr marL="152400" marR="152400" marT="114300" marB="95250" anchor="ctr">
                    <a:solidFill>
                      <a:srgbClr val="E8ED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79 skills and 26 templates</a:t>
                      </a:r>
                    </a:p>
                  </a:txBody>
                  <a:tcPr marL="152400" marR="152400" marT="114300" marB="95250" anchor="ctr">
                    <a:solidFill>
                      <a:srgbClr val="E8ED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 methods and 10 templates</a:t>
                      </a:r>
                    </a:p>
                  </a:txBody>
                  <a:tcPr marL="152400" marR="152400" marT="114300" marB="95250" anchor="ctr">
                    <a:solidFill>
                      <a:srgbClr val="E8EDE3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Specialist workflow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48 role definitions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agent execution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Project continuity</a:t>
                      </a:r>
                    </a:p>
                  </a:txBody>
                  <a:tcPr marL="152400" marR="152400" marT="114300" marB="95250" anchor="ctr">
                    <a:solidFill>
                      <a:srgbClr val="E8ED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.great-pm state and board</a:t>
                      </a:r>
                    </a:p>
                  </a:txBody>
                  <a:tcPr marL="152400" marR="152400" marT="114300" marB="95250" anchor="ctr">
                    <a:solidFill>
                      <a:srgbClr val="E8ED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project-file access</a:t>
                      </a:r>
                    </a:p>
                  </a:txBody>
                  <a:tcPr marL="152400" marR="152400" marT="114300" marB="95250" anchor="ctr">
                    <a:solidFill>
                      <a:srgbClr val="E8EDE3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External tools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Optional governed connectors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external writes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F39CC-B9E9-4625-BD23-9E725F18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Codex and Claude Code host the full experience.</a:t>
            </a:r>
          </a:p>
          <a:p xmlns:a="http://schemas.openxmlformats.org/drawingml/2006/main">
            <a:pPr>
              <a:defRPr sz="18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Compatible MCP clients get selected knowledge.</a:t>
            </a:r>
          </a:p>
        </p:txBody>
      </p:sp>
    </p:spTree>
    <p:extLst>
      <p:ext uri="{BB962C8B-B14F-4D97-AF65-F5344CB8AC3E}">
        <p14:creationId xmlns:p14="http://schemas.microsoft.com/office/powerpoint/2010/main" val="508033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6B726-F971-424B-A189-446590E2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The optional MCP knowledge channel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90E63-F37C-4000-AB74-B0A4C795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D82B5-7CE6-421B-BFB4-D7C2FC07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52575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28 methods     10 templates     11 prompts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457450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49605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4F1E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Read-only tool</a:t>
                      </a:r>
                    </a:p>
                  </a:txBody>
                  <a:tcPr marL="152400" marR="152400" marT="114300" marB="95250" anchor="ctr">
                    <a:solidFill>
                      <a:srgbClr val="173F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4F1E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returns</a:t>
                      </a:r>
                    </a:p>
                  </a:txBody>
                  <a:tcPr marL="152400" marR="152400" marT="114300" marB="95250" anchor="ctr">
                    <a:solidFill>
                      <a:srgbClr val="173F35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greatpm_list_methods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Searchable method metadata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greatpm_get_method</a:t>
                      </a:r>
                    </a:p>
                  </a:txBody>
                  <a:tcPr marL="152400" marR="152400" marT="114300" marB="95250" anchor="ctr">
                    <a:solidFill>
                      <a:srgbClr val="E8ED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 guidance for one method</a:t>
                      </a:r>
                    </a:p>
                  </a:txBody>
                  <a:tcPr marL="152400" marR="152400" marT="114300" marB="95250" anchor="ctr">
                    <a:solidFill>
                      <a:srgbClr val="E8EDE3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greatpm_prepare_workflow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plan with methods, artifacts and human gates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0B2A0-A152-40E4-A9F6-25654F40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435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MCP prepares the workflow. It does not execute or approve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23702-AD6B-4B1A-90C0-B15137B3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62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rPr>
              <a:t>Implementation prepared. Hosting is outside this submission.</a:t>
            </a:r>
          </a:p>
        </p:txBody>
      </p:sp>
    </p:spTree>
    <p:extLst>
      <p:ext uri="{BB962C8B-B14F-4D97-AF65-F5344CB8AC3E}">
        <p14:creationId xmlns:p14="http://schemas.microsoft.com/office/powerpoint/2010/main" val="915232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00FCD-845F-4772-AD89-A5E82CE7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How I built GreatPM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EB9BF-6B93-4338-A7CB-85110CEC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8448675"/>
              </a:tblGrid>
              <a:tr h="828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4F1E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Layer</a:t>
                      </a:r>
                    </a:p>
                  </a:txBody>
                  <a:tcPr marL="152400" marR="152400" marT="114300" marB="95250" anchor="ctr">
                    <a:solidFill>
                      <a:srgbClr val="173F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4F1E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Build approach</a:t>
                      </a:r>
                    </a:p>
                  </a:txBody>
                  <a:tcPr marL="152400" marR="152400" marT="114300" marB="95250" anchor="ctr">
                    <a:solidFill>
                      <a:srgbClr val="173F35"/>
                    </a:solidFill>
                  </a:tcPr>
                </a:tc>
              </a:tr>
              <a:tr h="828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 system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Adapted the foundation to the six-stage PM loop,</a:t>
                      </a:r>
                    </a:p>
                    <a:p>
                      <a:r>
                        <a:rPr sz="187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PM specialists, product methods and human gates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</a:tr>
              <a:tr h="828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 hosts</a:t>
                      </a:r>
                    </a:p>
                  </a:txBody>
                  <a:tcPr marL="152400" marR="152400" marT="114300" marB="95250" anchor="ctr">
                    <a:solidFill>
                      <a:srgbClr val="E8ED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Kept canonical Claude Code content. Generated a</a:t>
                      </a:r>
                    </a:p>
                    <a:p>
                      <a:r>
                        <a:rPr sz="187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Codex package with compatible role identifiers and files</a:t>
                      </a:r>
                    </a:p>
                  </a:txBody>
                  <a:tcPr marL="152400" marR="152400" marT="114300" marB="95250" anchor="ctr">
                    <a:solidFill>
                      <a:srgbClr val="E8EDE3"/>
                    </a:solidFill>
                  </a:tcPr>
                </a:tc>
              </a:tr>
              <a:tr h="828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Knowledge channel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Added a TypeScript MCP service over Streamable HTTP</a:t>
                      </a:r>
                    </a:p>
                    <a:p>
                      <a:r>
                        <a:rPr sz="1875" b="0">
                          <a:solidFill>
                            <a:srgbClr val="1C30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with curated static methods, templates and prompts</a:t>
                      </a:r>
                    </a:p>
                  </a:txBody>
                  <a:tcPr marL="152400" marR="152400" marT="114300" marB="95250" anchor="ctr">
                    <a:solidFill>
                      <a:srgbClr val="F4F1E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8F332-5F5F-45CA-A555-DAC40871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Built on the MIT-licensed great_cto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D952F-0551-4A75-BC66-3D7BF972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rPr>
              <a:t>Versioned source and native package v1.1.6 on GitHub</a:t>
            </a:r>
          </a:p>
        </p:txBody>
      </p:sp>
    </p:spTree>
    <p:extLst>
      <p:ext uri="{BB962C8B-B14F-4D97-AF65-F5344CB8AC3E}">
        <p14:creationId xmlns:p14="http://schemas.microsoft.com/office/powerpoint/2010/main" val="14891737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52C27-A29E-4301-9F2B-E79D5024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Current status and learning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69DF6-A292-4C6D-8B84-512DA516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56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F27E2-9009-4DFD-A5DB-27F22E0A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Available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52922-32D4-405E-A547-08F0BF05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rPr>
              <a:t>Versioned code on GitHub.</a:t>
            </a:r>
          </a:p>
          <a:p xmlns:a="http://schemas.openxmlformats.org/drawingml/2006/main">
            <a:pPr>
              <a:defRPr sz="2025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rPr>
              <a:t>Native package for Codex and Claude Code.</a:t>
            </a:r>
          </a:p>
          <a:p xmlns:a="http://schemas.openxmlformats.org/drawingml/2006/main">
            <a:pPr>
              <a:defRPr sz="2025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rPr>
              <a:t>Local product board and project memory.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63DC7-25E0-409D-9D33-6A12CF18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859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Prepared separately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DA9B1-05F2-49CE-9C82-2C58C4DD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38375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rPr>
              <a:t>Curated read-only MCP implementation.</a:t>
            </a:r>
          </a:p>
          <a:p xmlns:a="http://schemas.openxmlformats.org/drawingml/2006/main">
            <a:pPr>
              <a:defRPr sz="2025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rPr>
              <a:t>The hosted release is outside this submission.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95197-A2D2-4831-8954-14172A18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What still needs independent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07DE2-D3B5-4374-A23B-890F7B53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38700"/>
            <a:ext cx="108585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rPr>
              <a:t>Can a new PM complete setup and the first workflow?</a:t>
            </a:r>
          </a:p>
          <a:p xmlns:a="http://schemas.openxmlformats.org/drawingml/2006/main">
            <a:pPr>
              <a:defRPr sz="2100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rPr>
              <a:t>Does Grill Me improve the clarity of a decision brief?</a:t>
            </a:r>
          </a:p>
          <a:p xmlns:a="http://schemas.openxmlformats.org/drawingml/2006/main">
            <a:pPr>
              <a:defRPr sz="2100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C302B"/>
                </a:solidFill>
                <a:latin typeface="Helvetica Neue"/>
                <a:ea typeface="Helvetica Neue"/>
                <a:cs typeface="Helvetica Neue"/>
              </a:rPr>
              <a:t>Do users understand where human approval is required?</a:t>
            </a:r>
          </a:p>
        </p:txBody>
      </p:sp>
    </p:spTree>
    <p:extLst>
      <p:ext uri="{BB962C8B-B14F-4D97-AF65-F5344CB8AC3E}">
        <p14:creationId xmlns:p14="http://schemas.microsoft.com/office/powerpoint/2010/main" val="1204166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2026-09-20T17:12:22.2480000Z</dcterms:created>
  <dcterms:modified xsi:type="dcterms:W3CDTF">2026-09-20T17:12:22.2480000Z</dcterms:modified>
</coreProperties>
</file>