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d7ee663eae4f48ca" /><Relationship Type="http://schemas.openxmlformats.org/officeDocument/2006/relationships/extended-properties" Target="/docProps/app.xml" Id="Rf27f8681dccd490f" /><Relationship Type="http://schemas.openxmlformats.org/officeDocument/2006/relationships/officeDocument" Target="/ppt/presentation.xml" Id="Rce5b1bf623744c87" /></Relationships>
</file>

<file path=ppt/presentation.xml><?xml version="1.0" encoding="utf-8"?>
<p:presentation xmlns:p="http://schemas.openxmlformats.org/presentationml/2006/main">
  <p:sldMasterIdLst>
    <p:sldMasterId xmlns:r="http://schemas.openxmlformats.org/officeDocument/2006/relationships" id="2147483648" r:id="R2c83493dbb684098"/>
  </p:sldMasterIdLst>
  <p:notesMasterIdLst>
    <p:notesMasterId xmlns:r="http://schemas.openxmlformats.org/officeDocument/2006/relationships" r:id="R31be0d2eff3a4fb8"/>
  </p:notesMasterIdLst>
  <p:sldIdLst>
    <p:sldId xmlns:r="http://schemas.openxmlformats.org/officeDocument/2006/relationships" id="256" r:id="R5acc0e6955ae4b33"/>
    <p:sldId xmlns:r="http://schemas.openxmlformats.org/officeDocument/2006/relationships" id="257" r:id="Rd8a60405536b4003"/>
    <p:sldId xmlns:r="http://schemas.openxmlformats.org/officeDocument/2006/relationships" id="258" r:id="R6ad78517e8c64269"/>
    <p:sldId xmlns:r="http://schemas.openxmlformats.org/officeDocument/2006/relationships" id="259" r:id="Rc431fee82d0f4ba2"/>
    <p:sldId xmlns:r="http://schemas.openxmlformats.org/officeDocument/2006/relationships" id="260" r:id="R5d490ad29ff04554"/>
    <p:sldId xmlns:r="http://schemas.openxmlformats.org/officeDocument/2006/relationships" id="261" r:id="R59e23cf74f65409f"/>
    <p:sldId xmlns:r="http://schemas.openxmlformats.org/officeDocument/2006/relationships" id="262" r:id="R5b2796786d2d48a2"/>
    <p:sldId xmlns:r="http://schemas.openxmlformats.org/officeDocument/2006/relationships" id="263" r:id="R501b089b3dd849a3"/>
    <p:sldId xmlns:r="http://schemas.openxmlformats.org/officeDocument/2006/relationships" id="264" r:id="Re7889909b06b4be1"/>
    <p:sldId xmlns:r="http://schemas.openxmlformats.org/officeDocument/2006/relationships" id="265" r:id="R50951b6f41fc4855"/>
    <p:sldId xmlns:r="http://schemas.openxmlformats.org/officeDocument/2006/relationships" id="266" r:id="Rc6f1aa2027cb4bfb"/>
    <p:sldId xmlns:r="http://schemas.openxmlformats.org/officeDocument/2006/relationships" id="267" r:id="R42aa28db1b83432f"/>
    <p:sldId xmlns:r="http://schemas.openxmlformats.org/officeDocument/2006/relationships" id="268" r:id="Ra167c92d53e34f4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aaed2511e124036" /><Relationship Type="http://schemas.openxmlformats.org/officeDocument/2006/relationships/slideMaster" Target="/ppt/slideMasters/slideMaster1.xml" Id="R2c83493dbb684098" /><Relationship Type="http://schemas.openxmlformats.org/officeDocument/2006/relationships/notesMaster" Target="/ppt/notesMasters/notesMaster1.xml" Id="R31be0d2eff3a4fb8" /><Relationship Type="http://schemas.openxmlformats.org/officeDocument/2006/relationships/presProps" Target="/ppt/presProps.xml" Id="Rfbe90557fdc44c89" /><Relationship Type="http://schemas.openxmlformats.org/officeDocument/2006/relationships/tableStyles" Target="/ppt/tableStyles.xml" Id="R7551e576070347c8" /><Relationship Type="http://schemas.openxmlformats.org/officeDocument/2006/relationships/slide" Target="/ppt/slides/slide1.xml" Id="R5acc0e6955ae4b33" /><Relationship Type="http://schemas.openxmlformats.org/officeDocument/2006/relationships/slide" Target="/ppt/slides/slide2.xml" Id="Rd8a60405536b4003" /><Relationship Type="http://schemas.openxmlformats.org/officeDocument/2006/relationships/slide" Target="/ppt/slides/slide3.xml" Id="R6ad78517e8c64269" /><Relationship Type="http://schemas.openxmlformats.org/officeDocument/2006/relationships/slide" Target="/ppt/slides/slide4.xml" Id="Rc431fee82d0f4ba2" /><Relationship Type="http://schemas.openxmlformats.org/officeDocument/2006/relationships/slide" Target="/ppt/slides/slide5.xml" Id="R5d490ad29ff04554" /><Relationship Type="http://schemas.openxmlformats.org/officeDocument/2006/relationships/slide" Target="/ppt/slides/slide6.xml" Id="R59e23cf74f65409f" /><Relationship Type="http://schemas.openxmlformats.org/officeDocument/2006/relationships/slide" Target="/ppt/slides/slide7.xml" Id="R5b2796786d2d48a2" /><Relationship Type="http://schemas.openxmlformats.org/officeDocument/2006/relationships/slide" Target="/ppt/slides/slide8.xml" Id="R501b089b3dd849a3" /><Relationship Type="http://schemas.openxmlformats.org/officeDocument/2006/relationships/slide" Target="/ppt/slides/slide9.xml" Id="Re7889909b06b4be1" /><Relationship Type="http://schemas.openxmlformats.org/officeDocument/2006/relationships/slide" Target="/ppt/slides/slide10.xml" Id="R50951b6f41fc4855" /><Relationship Type="http://schemas.openxmlformats.org/officeDocument/2006/relationships/slide" Target="/ppt/slides/slide11.xml" Id="Rc6f1aa2027cb4bfb" /><Relationship Type="http://schemas.openxmlformats.org/officeDocument/2006/relationships/slide" Target="/ppt/slides/slide12.xml" Id="R42aa28db1b83432f" /><Relationship Type="http://schemas.openxmlformats.org/officeDocument/2006/relationships/slide" Target="/ppt/slides/slide13.xml" Id="Ra167c92d53e34f4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95a76e25d04403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477468e88c24d1d" /><Relationship Type="http://schemas.openxmlformats.org/officeDocument/2006/relationships/notesMaster" Target="/ppt/notesMasters/notesMaster1.xml" Id="Rebaedd5ae37348e7" /></Relationships>
</file>

<file path=ppt/notesSlides/_rels/notesSlide2.xml.rels>&#65279;<?xml version="1.0" encoding="utf-8"?><Relationships xmlns="http://schemas.openxmlformats.org/package/2006/relationships"><Relationship Type="http://schemas.openxmlformats.org/officeDocument/2006/relationships/slide" Target="/ppt/slides/slide2.xml" Id="R8acbb46bd5354bef" /><Relationship Type="http://schemas.openxmlformats.org/officeDocument/2006/relationships/notesMaster" Target="/ppt/notesMasters/notesMaster1.xml" Id="R9d2bed33c8a141f1" /></Relationships>
</file>

<file path=ppt/notesSlides/_rels/notesSlide3.xml.rels>&#65279;<?xml version="1.0" encoding="utf-8"?><Relationships xmlns="http://schemas.openxmlformats.org/package/2006/relationships"><Relationship Type="http://schemas.openxmlformats.org/officeDocument/2006/relationships/slide" Target="/ppt/slides/slide3.xml" Id="Rf43ccef77ce441d5" /><Relationship Type="http://schemas.openxmlformats.org/officeDocument/2006/relationships/notesMaster" Target="/ppt/notesMasters/notesMaster1.xml" Id="R8fce304794a247d2" /></Relationships>
</file>

<file path=ppt/notesSlides/_rels/notesSlide4.xml.rels>&#65279;<?xml version="1.0" encoding="utf-8"?><Relationships xmlns="http://schemas.openxmlformats.org/package/2006/relationships"><Relationship Type="http://schemas.openxmlformats.org/officeDocument/2006/relationships/slide" Target="/ppt/slides/slide4.xml" Id="Re574add4b4de478d" /><Relationship Type="http://schemas.openxmlformats.org/officeDocument/2006/relationships/notesMaster" Target="/ppt/notesMasters/notesMaster1.xml" Id="R77164c4b620744c1" /></Relationships>
</file>

<file path=ppt/notesSlides/_rels/notesSlide5.xml.rels>&#65279;<?xml version="1.0" encoding="utf-8"?><Relationships xmlns="http://schemas.openxmlformats.org/package/2006/relationships"><Relationship Type="http://schemas.openxmlformats.org/officeDocument/2006/relationships/slide" Target="/ppt/slides/slide5.xml" Id="Rec6d702c0c624204" /><Relationship Type="http://schemas.openxmlformats.org/officeDocument/2006/relationships/notesMaster" Target="/ppt/notesMasters/notesMaster1.xml" Id="Rd6396a2416da425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79555815ee54342" /><Relationship Type="http://schemas.openxmlformats.org/officeDocument/2006/relationships/notesMaster" Target="/ppt/notesMasters/notesMaster1.xml" Id="Rcfe38dc7adc94f48" /></Relationships>
</file>

<file path=ppt/notesSlides/_rels/notesSlide7.xml.rels>&#65279;<?xml version="1.0" encoding="utf-8"?><Relationships xmlns="http://schemas.openxmlformats.org/package/2006/relationships"><Relationship Type="http://schemas.openxmlformats.org/officeDocument/2006/relationships/slide" Target="/ppt/slides/slide7.xml" Id="R114e220caa00441b" /><Relationship Type="http://schemas.openxmlformats.org/officeDocument/2006/relationships/notesMaster" Target="/ppt/notesMasters/notesMaster1.xml" Id="R86998f3bce3942be" /></Relationships>
</file>

<file path=ppt/notesSlides/_rels/notesSlide8.xml.rels>&#65279;<?xml version="1.0" encoding="utf-8"?><Relationships xmlns="http://schemas.openxmlformats.org/package/2006/relationships"><Relationship Type="http://schemas.openxmlformats.org/officeDocument/2006/relationships/slide" Target="/ppt/slides/slide8.xml" Id="R99ebc5ecec0e4268" /><Relationship Type="http://schemas.openxmlformats.org/officeDocument/2006/relationships/notesMaster" Target="/ppt/notesMasters/notesMaster1.xml" Id="R404a65e96cdd413d" /></Relationships>
</file>

<file path=ppt/notesSlides/_rels/notesSlide9.xml.rels>&#65279;<?xml version="1.0" encoding="utf-8"?><Relationships xmlns="http://schemas.openxmlformats.org/package/2006/relationships"><Relationship Type="http://schemas.openxmlformats.org/officeDocument/2006/relationships/slide" Target="/ppt/slides/slide9.xml" Id="Rec0eb16732a344a7" /><Relationship Type="http://schemas.openxmlformats.org/officeDocument/2006/relationships/notesMaster" Target="/ppt/notesMasters/notesMaster1.xml" Id="R34514451cc7e455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e89721bbbb2549e5" /><Relationship Type="http://schemas.openxmlformats.org/officeDocument/2006/relationships/notesMaster" Target="/ppt/notesMasters/notesMaster1.xml" Id="Rc0a2b31693fc444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ac72f54f8274e92" /><Relationship Type="http://schemas.openxmlformats.org/officeDocument/2006/relationships/notesMaster" Target="/ppt/notesMasters/notesMaster1.xml" Id="Rd0d1f3c7d75441dd"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3ce6fcc5dfa1498c" /><Relationship Type="http://schemas.openxmlformats.org/officeDocument/2006/relationships/notesMaster" Target="/ppt/notesMasters/notesMaster1.xml" Id="R91b12c5e5a9b4f2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1dec08d97ca4758" /><Relationship Type="http://schemas.openxmlformats.org/officeDocument/2006/relationships/notesMaster" Target="/ppt/notesMasters/notesMaster1.xml" Id="R2c7c8c6b827a4f9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GreatPM product-management buildathon submission. Native package v1.1.6. Source: https://github.com/VandanaAjayDubey111/great-pm. No adoption or outcome metrics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Intended users and pain statements are product hypotheses, not independently validated market findings. Source: https://github.com/VandanaAjayDubey111/great-pm/blob/main/README.md. Talk track: focus on deciding which product to build and why. Task tracking supports that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https://github.com/VandanaAjayDubey111/great-pm/blob/main/README.md and native package v1.1.6 inventory. Counts are separate categories, not simultaneous agents, adoption or test coverage: 48 specialist definitions, 79 product-management skills, 34 workflows and 26 templates.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https://github.com/VandanaAjayDubey111/great-pm/blob/main/README.md and https://github.com/VandanaAjayDubey111/great-pm/blob/main/docs/CODEX.md. Only the human may approve gate:strategy, gate:spec and gate:launch. The specification gate precedes build. Measure feeds the next discovery cycle.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example only. Source: https://github.com/VandanaAjayDubey111/great-pm/blob/main/agents/grill-me.md. Codex public name is $grill-me. It asks adaptive rounds about the situation, widens understanding, records unknowns and produces a situation brief at any stage when thinking is fuzzy. The human can answer, skip or override. Inspiration credit: Matt Pocock, https://www.aihero.dev/my-grill-me-skill-has-gone-viral.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 image: https://github.com/VandanaAjayDubey111/great-pm/blob/main/docs/screenshots/board.png. All Lumen records are demo data, not evidence of customers, adoption or a real beta. Talk track: point to pending gates and unresolved product choices.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https://github.com/VandanaAjayDubey111/great-pm/blob/main/docs/CODEX.md and prepared MCP implementation https://github.com/VandanaAjayDubey111/great-pm/pull/3. The public MCP does not run the specialist harness, access project files or write to external tools.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Prepared implementation source: https://github.com/VandanaAjayDubey111/great-pm/pull/3, docs/MCP.md and curated catalog. Counts describe the implementation, not a new hosted release: 28 methods, 10 templates, 11 prompts, three tools.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https://github.com/VandanaAjayDubey111/great-pm/blob/main/NOTICE.md; https://github.com/VandanaAjayDubey111/great-pm/blob/main/docs/CODEX.md; https://github.com/VandanaAjayDubey111/great-pm/pull/3 docs/MCP-ARCHITECTURE.md. Foundation: https://github.com/avelikiy/great_cto via https://github.com/ajayd942/great_cto. GreatPM adapts plugin/orchestration/board/memory/gates to product management. Codex packaging preserves canonical public names while mapping internal role identifiers and carrying supporting files. MCP uses the TypeScript SDK and stateless Streamable HTTP with a curated static allowlist. Native source and generated package are versioned in Git.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Sources: https://github.com/VandanaAjayDubey111/great-pm/pull/3, docs/MCP-ARCHITECTURE.md, docs/MCP.md, PRIVACY.md; https://github.com/VandanaAjayDubey111/great-pm/blob/main/LICENSE. Host/model provider data policies still apply to native usage. Public MCP is authless, stateless and read-only, with no model calls, outbound requests, project access or external writes. Do not send confidential or personal data in public MCP arguments. MIT does not imply zero model, tool or hosting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Creator/user feedback in project conversation, Jul-Sep 2026. One person, repeated observations, not five interviews. Summarized private feedback, no direct quotes. This is creator experience, not independent market validation. Native experience gaps versus MCP, grill/grill-me naming inconsistency after reinstall and repeated setup/approval friction informed full Codex packaging, $grill-me naming preservation and clearer plugin/MCP boundaries. Setup friction remains a learning priority.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Native package v1.1.6 merged into main, as confirmed in project conversation. Source: https://github.com/VandanaAjayDubey111/great-pm/blob/main/docs/CODEX.md. Prepared MCP implementation: https://github.com/VandanaAjayDubey111/great-pm/pull/3. No newly completed MCP deployment is part of this submission. The only real user feedback summarized here is creator feedback. Future validation is not completed evidence.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Product link: https://github.com/VandanaAjayDubey111/great-pm. Install source: https://github.com/VandanaAjayDubey111/great-pm/blob/main/docs/CODEX.md. Codex installation uses marketplace add then plugin add. Start a new session and invoke $pm-help, $grill-me or $pm-start. Claude Code uses its native plugin marketplace and /pm-start. Read repository prerequisites. Talk track: open the repository, invoke $grill-me for a product idea, then open the local board. No live MCP launch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bd3c76d0804bc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f266b8f8d6b144b7" /><Relationship Type="http://schemas.openxmlformats.org/officeDocument/2006/relationships/slideLayout" Target="/ppt/slideLayouts/slideLayout1.xml" Id="Rdd76b3f1feb8405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d76b3f1feb8405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082a1cc400ec4f2b" /><Relationship Type="http://schemas.openxmlformats.org/officeDocument/2006/relationships/notesSlide" Target="/ppt/notesSlides/notesSlide1.xml" Id="Rb10aed9117464b6e"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44802ccc7834d2d" /><Relationship Type="http://schemas.openxmlformats.org/officeDocument/2006/relationships/notesSlide" Target="/ppt/notesSlides/notesSlide2.xml" Id="R2028499a293f463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999c70115604417" /><Relationship Type="http://schemas.openxmlformats.org/officeDocument/2006/relationships/notesSlide" Target="/ppt/notesSlides/notesSlide3.xml" Id="R74d9ba9540c849f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c8155f4a2cb94fff" /><Relationship Type="http://schemas.openxmlformats.org/officeDocument/2006/relationships/notesSlide" Target="/ppt/notesSlides/notesSlide4.xml" Id="Rc289bad1110e4fb3"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8bb8c0a719b4c00" /><Relationship Type="http://schemas.openxmlformats.org/officeDocument/2006/relationships/notesSlide" Target="/ppt/notesSlides/notesSlide5.xml" Id="Ra7a66913cbc6438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756ce5ac1ce4b25" /><Relationship Type="http://schemas.openxmlformats.org/officeDocument/2006/relationships/image" Target="/ppt/media/image.png" Id="R69e4e66d3f074ff8" /><Relationship Type="http://schemas.openxmlformats.org/officeDocument/2006/relationships/notesSlide" Target="/ppt/notesSlides/notesSlide6.xml" Id="R41cab68c92984a52"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5ba9afae24648e9" /><Relationship Type="http://schemas.openxmlformats.org/officeDocument/2006/relationships/notesSlide" Target="/ppt/notesSlides/notesSlide7.xml" Id="R44cc96881efd430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56c7fd1fcf1429a" /><Relationship Type="http://schemas.openxmlformats.org/officeDocument/2006/relationships/notesSlide" Target="/ppt/notesSlides/notesSlide8.xml" Id="R262f7d0c91d7427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e6a12d2264549b0" /><Relationship Type="http://schemas.openxmlformats.org/officeDocument/2006/relationships/notesSlide" Target="/ppt/notesSlides/notesSlide9.xml" Id="Rc9de9467fb9544d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894a0adcbad492c" /><Relationship Type="http://schemas.openxmlformats.org/officeDocument/2006/relationships/notesSlide" Target="/ppt/notesSlides/notesSlide10.xml" Id="R7df5314742e1461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1381f44ca2b47bc" /><Relationship Type="http://schemas.openxmlformats.org/officeDocument/2006/relationships/notesSlide" Target="/ppt/notesSlides/notesSlide11.xml" Id="R3a33f3228ef0477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95f7690c0b44b42" /><Relationship Type="http://schemas.openxmlformats.org/officeDocument/2006/relationships/notesSlide" Target="/ppt/notesSlides/notesSlide12.xml" Id="R84011a7e046a4ef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c5d92ecf3f048e2" /><Relationship Type="http://schemas.openxmlformats.org/officeDocument/2006/relationships/notesSlide" Target="/ppt/notesSlides/notesSlide13.xml" Id="Rd5a6607edf7c461b" /></Relationships>
</file>

<file path=ppt/slides/slide1.xml><?xml version="1.0" encoding="utf-8"?>
<p:sld xmlns:p="http://schemas.openxmlformats.org/presentationml/2006/main">
  <p:cSld>
    <p:bg>
      <p:bgPr>
        <a:solidFill xmlns:a="http://schemas.openxmlformats.org/drawingml/2006/main">
          <a:srgbClr val="173F35"/>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EB7F766-D50E-40F7-A0CD-F2F803B9D2F0}"/>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D8E5DA"/>
                </a:solidFill>
                <a:latin typeface="Helvetica Neue"/>
                <a:ea typeface="Helvetica Neue"/>
                <a:cs typeface="Helvetica Neue"/>
              </a:defRPr>
            </a:pPr>
            <a:r>
              <a:rPr sz="1350" b="0">
                <a:solidFill>
                  <a:srgbClr val="D8E5DA"/>
                </a:solidFill>
                <a:latin typeface="Helvetica Neue"/>
                <a:ea typeface="Helvetica Neue"/>
                <a:cs typeface="Helvetica Neue"/>
              </a:rPr>
              <a:t>01</a:t>
            </a:r>
          </a:p>
        </p:txBody>
      </p:sp>
      <p:sp>
        <p:nvSpPr>
          <p:cNvPr id="2" name="">
            <a:extLst xmlns:a="http://schemas.openxmlformats.org/drawingml/2006/main">
              <a:ext uri="{FF2B5EF4-FFF2-40B4-BE49-F238E27FC236}">
                <a16:creationId xmlns:a16="http://schemas.microsoft.com/office/drawing/2014/main" id="{4D00E105-7422-45A8-9B83-393BABA21C4B}"/>
              </a:ext>
            </a:extLst>
          </p:cNvPr>
          <p:cNvSpPr>
            <a:spLocks xmlns:a="http://schemas.openxmlformats.org/drawingml/2006/main" noGrp="1"/>
          </p:cNvSpPr>
          <p:nvPr/>
        </p:nvSpPr>
        <p:spPr>
          <a:xfrm xmlns:a="http://schemas.openxmlformats.org/drawingml/2006/main">
            <a:off x="609600" y="1123950"/>
            <a:ext cx="105727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8250" b="1">
                <a:solidFill>
                  <a:srgbClr val="F4F1E7"/>
                </a:solidFill>
                <a:latin typeface="Helvetica Neue"/>
                <a:ea typeface="Helvetica Neue"/>
                <a:cs typeface="Helvetica Neue"/>
              </a:defRPr>
            </a:pPr>
            <a:r>
              <a:rPr sz="8250" b="1">
                <a:solidFill>
                  <a:srgbClr val="F4F1E7"/>
                </a:solidFill>
                <a:latin typeface="Helvetica Neue"/>
                <a:ea typeface="Helvetica Neue"/>
                <a:cs typeface="Helvetica Neue"/>
              </a:rPr>
              <a:t>GreatPM</a:t>
            </a:r>
          </a:p>
        </p:txBody>
      </p:sp>
      <p:sp>
        <p:nvSpPr>
          <p:cNvPr id="3" name="">
            <a:extLst xmlns:a="http://schemas.openxmlformats.org/drawingml/2006/main">
              <a:ext uri="{FF2B5EF4-FFF2-40B4-BE49-F238E27FC236}">
                <a16:creationId xmlns:a16="http://schemas.microsoft.com/office/drawing/2014/main" id="{558E6848-2876-4C8F-A8D4-3151B956FAD9}"/>
              </a:ext>
            </a:extLst>
          </p:cNvPr>
          <p:cNvSpPr>
            <a:spLocks xmlns:a="http://schemas.openxmlformats.org/drawingml/2006/main" noGrp="1"/>
          </p:cNvSpPr>
          <p:nvPr/>
        </p:nvSpPr>
        <p:spPr>
          <a:xfrm xmlns:a="http://schemas.openxmlformats.org/drawingml/2006/main">
            <a:off x="666750" y="2771775"/>
            <a:ext cx="1028700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0">
                <a:solidFill>
                  <a:srgbClr val="F4F1E7"/>
                </a:solidFill>
                <a:latin typeface="Helvetica Neue"/>
                <a:ea typeface="Helvetica Neue"/>
                <a:cs typeface="Helvetica Neue"/>
              </a:defRPr>
            </a:pPr>
            <a:r>
              <a:rPr sz="3150" b="0">
                <a:solidFill>
                  <a:srgbClr val="F4F1E7"/>
                </a:solidFill>
                <a:latin typeface="Helvetica Neue"/>
                <a:ea typeface="Helvetica Neue"/>
                <a:cs typeface="Helvetica Neue"/>
              </a:rPr>
              <a:t>An AI product-management operating system</a:t>
            </a:r>
          </a:p>
        </p:txBody>
      </p:sp>
      <p:sp>
        <p:nvSpPr>
          <p:cNvPr id="4" name="">
            <a:extLst xmlns:a="http://schemas.openxmlformats.org/drawingml/2006/main">
              <a:ext uri="{FF2B5EF4-FFF2-40B4-BE49-F238E27FC236}">
                <a16:creationId xmlns:a16="http://schemas.microsoft.com/office/drawing/2014/main" id="{3D28BBAB-5302-4542-ACB0-012E7B03EB99}"/>
              </a:ext>
            </a:extLst>
          </p:cNvPr>
          <p:cNvSpPr>
            <a:spLocks xmlns:a="http://schemas.openxmlformats.org/drawingml/2006/main" noGrp="1"/>
          </p:cNvSpPr>
          <p:nvPr/>
        </p:nvSpPr>
        <p:spPr>
          <a:xfrm xmlns:a="http://schemas.openxmlformats.org/drawingml/2006/main">
            <a:off x="685800" y="4057650"/>
            <a:ext cx="99060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8E5DA"/>
                </a:solidFill>
                <a:latin typeface="Helvetica Neue"/>
                <a:ea typeface="Helvetica Neue"/>
                <a:cs typeface="Helvetica Neue"/>
              </a:defRPr>
            </a:pPr>
            <a:r>
              <a:rPr sz="2025" b="0">
                <a:solidFill>
                  <a:srgbClr val="D8E5DA"/>
                </a:solidFill>
                <a:latin typeface="Helvetica Neue"/>
                <a:ea typeface="Helvetica Neue"/>
                <a:cs typeface="Helvetica Neue"/>
              </a:rPr>
              <a:t>Native plugins for Codex and Claude Code</a:t>
            </a:r>
          </a:p>
          <a:p xmlns:a="http://schemas.openxmlformats.org/drawingml/2006/main">
            <a:pPr>
              <a:defRPr sz="2025" b="0">
                <a:solidFill>
                  <a:srgbClr val="D8E5DA"/>
                </a:solidFill>
                <a:latin typeface="Helvetica Neue"/>
                <a:ea typeface="Helvetica Neue"/>
                <a:cs typeface="Helvetica Neue"/>
              </a:defRPr>
            </a:pPr>
            <a:r>
              <a:rPr sz="2025" b="0">
                <a:solidFill>
                  <a:srgbClr val="D8E5DA"/>
                </a:solidFill>
                <a:latin typeface="Helvetica Neue"/>
                <a:ea typeface="Helvetica Neue"/>
                <a:cs typeface="Helvetica Neue"/>
              </a:rPr>
              <a:t>Optional read-only MCP knowledge channel</a:t>
            </a:r>
          </a:p>
        </p:txBody>
      </p:sp>
      <p:sp>
        <p:nvSpPr>
          <p:cNvPr id="5" name="">
            <a:extLst xmlns:a="http://schemas.openxmlformats.org/drawingml/2006/main">
              <a:ext uri="{FF2B5EF4-FFF2-40B4-BE49-F238E27FC236}">
                <a16:creationId xmlns:a16="http://schemas.microsoft.com/office/drawing/2014/main" id="{40079290-04CD-4205-B609-3A1DF1621530}"/>
              </a:ext>
            </a:extLst>
          </p:cNvPr>
          <p:cNvSpPr>
            <a:spLocks xmlns:a="http://schemas.openxmlformats.org/drawingml/2006/main" noGrp="1"/>
          </p:cNvSpPr>
          <p:nvPr/>
        </p:nvSpPr>
        <p:spPr>
          <a:xfrm xmlns:a="http://schemas.openxmlformats.org/drawingml/2006/main">
            <a:off x="685800" y="5581650"/>
            <a:ext cx="9525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8E5DA"/>
                </a:solidFill>
                <a:latin typeface="Helvetica Neue"/>
                <a:ea typeface="Helvetica Neue"/>
                <a:cs typeface="Helvetica Neue"/>
              </a:defRPr>
            </a:pPr>
            <a:r>
              <a:rPr sz="1650" b="0">
                <a:solidFill>
                  <a:srgbClr val="D8E5DA"/>
                </a:solidFill>
                <a:latin typeface="Helvetica Neue"/>
                <a:ea typeface="Helvetica Neue"/>
                <a:cs typeface="Helvetica Neue"/>
              </a:rPr>
              <a:t>Vandana Ajay Dubey</a:t>
            </a:r>
          </a:p>
          <a:p xmlns:a="http://schemas.openxmlformats.org/drawingml/2006/main">
            <a:pPr>
              <a:defRPr sz="1650" b="0">
                <a:solidFill>
                  <a:srgbClr val="D8E5DA"/>
                </a:solidFill>
                <a:latin typeface="Helvetica Neue"/>
                <a:ea typeface="Helvetica Neue"/>
                <a:cs typeface="Helvetica Neue"/>
              </a:defRPr>
            </a:pPr>
            <a:r>
              <a:rPr sz="1650" b="0">
                <a:solidFill>
                  <a:srgbClr val="D8E5DA"/>
                </a:solidFill>
                <a:latin typeface="Helvetica Neue"/>
                <a:ea typeface="Helvetica Neue"/>
                <a:cs typeface="Helvetica Neue"/>
              </a:rPr>
              <a:t>Assignment 4 - C51</a:t>
            </a:r>
          </a:p>
        </p:txBody>
      </p:sp>
    </p:spTree>
    <p:extLst>
      <p:ext uri="{BB962C8B-B14F-4D97-AF65-F5344CB8AC3E}">
        <p14:creationId xmlns:p14="http://schemas.microsoft.com/office/powerpoint/2010/main" val="1956181154"/>
      </p:ext>
    </p:extLst>
  </p:cSld>
</p:sld>
</file>

<file path=ppt/slides/slide2.xml><?xml version="1.0" encoding="utf-8"?>
<p:sld xmlns:p="http://schemas.openxmlformats.org/presentationml/2006/main">
  <p:cSld>
    <p:bg>
      <p:bgPr>
        <a:solidFill xmlns:a="http://schemas.openxmlformats.org/drawingml/2006/main">
          <a:srgbClr val="F4F1E7"/>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E21CA7F-8F8C-45DF-B8B0-30CBF3C6DB1F}"/>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F35"/>
                </a:solidFill>
                <a:latin typeface="Helvetica Neue"/>
                <a:ea typeface="Helvetica Neue"/>
                <a:cs typeface="Helvetica Neue"/>
              </a:defRPr>
            </a:pPr>
            <a:r>
              <a:rPr sz="3450" b="1">
                <a:solidFill>
                  <a:srgbClr val="173F35"/>
                </a:solidFill>
                <a:latin typeface="Helvetica Neue"/>
                <a:ea typeface="Helvetica Neue"/>
                <a:cs typeface="Helvetica Neue"/>
              </a:rPr>
              <a:t>The product decision problem</a:t>
            </a:r>
          </a:p>
        </p:txBody>
      </p:sp>
      <p:sp>
        <p:nvSpPr>
          <p:cNvPr id="2" name="">
            <a:extLst xmlns:a="http://schemas.openxmlformats.org/drawingml/2006/main">
              <a:ext uri="{FF2B5EF4-FFF2-40B4-BE49-F238E27FC236}">
                <a16:creationId xmlns:a16="http://schemas.microsoft.com/office/drawing/2014/main" id="{D498DBA8-18E5-4FAB-9E38-CC27D4EE804D}"/>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56B"/>
                </a:solidFill>
                <a:latin typeface="Helvetica Neue"/>
                <a:ea typeface="Helvetica Neue"/>
                <a:cs typeface="Helvetica Neue"/>
              </a:defRPr>
            </a:pPr>
            <a:r>
              <a:rPr sz="1350" b="0">
                <a:solidFill>
                  <a:srgbClr val="66756B"/>
                </a:solidFill>
                <a:latin typeface="Helvetica Neue"/>
                <a:ea typeface="Helvetica Neue"/>
                <a:cs typeface="Helvetica Neue"/>
              </a:rPr>
              <a:t>02</a:t>
            </a:r>
          </a:p>
        </p:txBody>
      </p:sp>
      <p:sp>
        <p:nvSpPr>
          <p:cNvPr id="3" name="">
            <a:extLst xmlns:a="http://schemas.openxmlformats.org/drawingml/2006/main">
              <a:ext uri="{FF2B5EF4-FFF2-40B4-BE49-F238E27FC236}">
                <a16:creationId xmlns:a16="http://schemas.microsoft.com/office/drawing/2014/main" id="{161F0384-E8A2-4172-A8C0-A081093F4B22}"/>
              </a:ext>
            </a:extLst>
          </p:cNvPr>
          <p:cNvSpPr>
            <a:spLocks xmlns:a="http://schemas.openxmlformats.org/drawingml/2006/main" noGrp="1"/>
          </p:cNvSpPr>
          <p:nvPr/>
        </p:nvSpPr>
        <p:spPr>
          <a:xfrm xmlns:a="http://schemas.openxmlformats.org/drawingml/2006/main">
            <a:off x="619125" y="1562100"/>
            <a:ext cx="3238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66756B"/>
                </a:solidFill>
                <a:latin typeface="Helvetica Neue"/>
                <a:ea typeface="Helvetica Neue"/>
                <a:cs typeface="Helvetica Neue"/>
              </a:defRPr>
            </a:pPr>
            <a:r>
              <a:rPr sz="2025" b="1">
                <a:solidFill>
                  <a:srgbClr val="66756B"/>
                </a:solidFill>
                <a:latin typeface="Helvetica Neue"/>
                <a:ea typeface="Helvetica Neue"/>
                <a:cs typeface="Helvetica Neue"/>
              </a:rPr>
              <a:t>Intended users</a:t>
            </a:r>
          </a:p>
        </p:txBody>
      </p:sp>
      <p:sp>
        <p:nvSpPr>
          <p:cNvPr id="4" name="">
            <a:extLst xmlns:a="http://schemas.openxmlformats.org/drawingml/2006/main">
              <a:ext uri="{FF2B5EF4-FFF2-40B4-BE49-F238E27FC236}">
                <a16:creationId xmlns:a16="http://schemas.microsoft.com/office/drawing/2014/main" id="{8369E5FC-97C0-4322-B1D6-93206CF9B5EC}"/>
              </a:ext>
            </a:extLst>
          </p:cNvPr>
          <p:cNvSpPr>
            <a:spLocks xmlns:a="http://schemas.openxmlformats.org/drawingml/2006/main" noGrp="1"/>
          </p:cNvSpPr>
          <p:nvPr/>
        </p:nvSpPr>
        <p:spPr>
          <a:xfrm xmlns:a="http://schemas.openxmlformats.org/drawingml/2006/main">
            <a:off x="619125" y="2095500"/>
            <a:ext cx="1014412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73F35"/>
                </a:solidFill>
                <a:latin typeface="Helvetica Neue"/>
                <a:ea typeface="Helvetica Neue"/>
                <a:cs typeface="Helvetica Neue"/>
              </a:defRPr>
            </a:pPr>
            <a:r>
              <a:rPr sz="2850" b="1">
                <a:solidFill>
                  <a:srgbClr val="173F35"/>
                </a:solidFill>
                <a:latin typeface="Helvetica Neue"/>
                <a:ea typeface="Helvetica Neue"/>
                <a:cs typeface="Helvetica Neue"/>
              </a:rPr>
              <a:t>Founder-PMs and small product teams</a:t>
            </a:r>
          </a:p>
          <a:p xmlns:a="http://schemas.openxmlformats.org/drawingml/2006/main">
            <a:pPr>
              <a:defRPr sz="2850" b="1">
                <a:solidFill>
                  <a:srgbClr val="173F35"/>
                </a:solidFill>
                <a:latin typeface="Helvetica Neue"/>
                <a:ea typeface="Helvetica Neue"/>
                <a:cs typeface="Helvetica Neue"/>
              </a:defRPr>
            </a:pPr>
            <a:r>
              <a:rPr sz="2850" b="1">
                <a:solidFill>
                  <a:srgbClr val="173F35"/>
                </a:solidFill>
                <a:latin typeface="Helvetica Neue"/>
                <a:ea typeface="Helvetica Neue"/>
                <a:cs typeface="Helvetica Neue"/>
              </a:rPr>
              <a:t>working inside an AI coding environment</a:t>
            </a:r>
          </a:p>
        </p:txBody>
      </p:sp>
      <p:sp>
        <p:nvSpPr>
          <p:cNvPr id="5" name="">
            <a:extLst xmlns:a="http://schemas.openxmlformats.org/drawingml/2006/main">
              <a:ext uri="{FF2B5EF4-FFF2-40B4-BE49-F238E27FC236}">
                <a16:creationId xmlns:a16="http://schemas.microsoft.com/office/drawing/2014/main" id="{9E1AEC43-75EB-4A41-9341-6609C66FFC86}"/>
              </a:ext>
            </a:extLst>
          </p:cNvPr>
          <p:cNvSpPr>
            <a:spLocks xmlns:a="http://schemas.openxmlformats.org/drawingml/2006/main" noGrp="1"/>
          </p:cNvSpPr>
          <p:nvPr/>
        </p:nvSpPr>
        <p:spPr>
          <a:xfrm xmlns:a="http://schemas.openxmlformats.org/drawingml/2006/main">
            <a:off x="619125" y="3609975"/>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F35"/>
                </a:solidFill>
                <a:latin typeface="Helvetica Neue"/>
                <a:ea typeface="Helvetica Neue"/>
                <a:cs typeface="Helvetica Neue"/>
              </a:defRPr>
            </a:pPr>
            <a:r>
              <a:rPr sz="2175" b="1">
                <a:solidFill>
                  <a:srgbClr val="173F35"/>
                </a:solidFill>
                <a:latin typeface="Helvetica Neue"/>
                <a:ea typeface="Helvetica Neue"/>
                <a:cs typeface="Helvetica Neue"/>
              </a:rPr>
              <a:t>A fuzzy request can become a build</a:t>
            </a:r>
          </a:p>
        </p:txBody>
      </p:sp>
      <p:sp>
        <p:nvSpPr>
          <p:cNvPr id="6" name="">
            <a:extLst xmlns:a="http://schemas.openxmlformats.org/drawingml/2006/main">
              <a:ext uri="{FF2B5EF4-FFF2-40B4-BE49-F238E27FC236}">
                <a16:creationId xmlns:a16="http://schemas.microsoft.com/office/drawing/2014/main" id="{7C47FF07-6BE5-417C-990C-13E91962874D}"/>
              </a:ext>
            </a:extLst>
          </p:cNvPr>
          <p:cNvSpPr>
            <a:spLocks xmlns:a="http://schemas.openxmlformats.org/drawingml/2006/main" noGrp="1"/>
          </p:cNvSpPr>
          <p:nvPr/>
        </p:nvSpPr>
        <p:spPr>
          <a:xfrm xmlns:a="http://schemas.openxmlformats.org/drawingml/2006/main">
            <a:off x="619125" y="4162425"/>
            <a:ext cx="50482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02B"/>
                </a:solidFill>
                <a:latin typeface="Helvetica Neue"/>
                <a:ea typeface="Helvetica Neue"/>
                <a:cs typeface="Helvetica Neue"/>
              </a:defRPr>
            </a:pPr>
            <a:r>
              <a:rPr sz="2025" b="0">
                <a:solidFill>
                  <a:srgbClr val="1C302B"/>
                </a:solidFill>
                <a:latin typeface="Helvetica Neue"/>
                <a:ea typeface="Helvetica Neue"/>
                <a:cs typeface="Helvetica Neue"/>
              </a:rPr>
              <a:t>The user, desired outcome and evidence may remain unclear while an AI assistant starts producing artifacts.</a:t>
            </a:r>
          </a:p>
        </p:txBody>
      </p:sp>
      <p:sp>
        <p:nvSpPr>
          <p:cNvPr id="7" name="">
            <a:extLst xmlns:a="http://schemas.openxmlformats.org/drawingml/2006/main">
              <a:ext uri="{FF2B5EF4-FFF2-40B4-BE49-F238E27FC236}">
                <a16:creationId xmlns:a16="http://schemas.microsoft.com/office/drawing/2014/main" id="{FB5F6EC1-03CA-4C22-9B61-E5D35E470F0C}"/>
              </a:ext>
            </a:extLst>
          </p:cNvPr>
          <p:cNvSpPr>
            <a:spLocks xmlns:a="http://schemas.openxmlformats.org/drawingml/2006/main" noGrp="1"/>
          </p:cNvSpPr>
          <p:nvPr/>
        </p:nvSpPr>
        <p:spPr>
          <a:xfrm xmlns:a="http://schemas.openxmlformats.org/drawingml/2006/main">
            <a:off x="6362700" y="3609975"/>
            <a:ext cx="5191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F35"/>
                </a:solidFill>
                <a:latin typeface="Helvetica Neue"/>
                <a:ea typeface="Helvetica Neue"/>
                <a:cs typeface="Helvetica Neue"/>
              </a:defRPr>
            </a:pPr>
            <a:r>
              <a:rPr sz="2175" b="1">
                <a:solidFill>
                  <a:srgbClr val="173F35"/>
                </a:solidFill>
                <a:latin typeface="Helvetica Neue"/>
                <a:ea typeface="Helvetica Neue"/>
                <a:cs typeface="Helvetica Neue"/>
              </a:rPr>
              <a:t>Context fragments across the work</a:t>
            </a:r>
          </a:p>
        </p:txBody>
      </p:sp>
      <p:sp>
        <p:nvSpPr>
          <p:cNvPr id="8" name="">
            <a:extLst xmlns:a="http://schemas.openxmlformats.org/drawingml/2006/main">
              <a:ext uri="{FF2B5EF4-FFF2-40B4-BE49-F238E27FC236}">
                <a16:creationId xmlns:a16="http://schemas.microsoft.com/office/drawing/2014/main" id="{094AF4D4-2971-46F8-8E1F-4E5C64AF21F4}"/>
              </a:ext>
            </a:extLst>
          </p:cNvPr>
          <p:cNvSpPr>
            <a:spLocks xmlns:a="http://schemas.openxmlformats.org/drawingml/2006/main" noGrp="1"/>
          </p:cNvSpPr>
          <p:nvPr/>
        </p:nvSpPr>
        <p:spPr>
          <a:xfrm xmlns:a="http://schemas.openxmlformats.org/drawingml/2006/main">
            <a:off x="6362700" y="4162425"/>
            <a:ext cx="519112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02B"/>
                </a:solidFill>
                <a:latin typeface="Helvetica Neue"/>
                <a:ea typeface="Helvetica Neue"/>
                <a:cs typeface="Helvetica Neue"/>
              </a:defRPr>
            </a:pPr>
            <a:r>
              <a:rPr sz="2025" b="0">
                <a:solidFill>
                  <a:srgbClr val="1C302B"/>
                </a:solidFill>
                <a:latin typeface="Helvetica Neue"/>
                <a:ea typeface="Helvetica Neue"/>
                <a:cs typeface="Helvetica Neue"/>
              </a:rPr>
              <a:t>Research, strategy and product requirements need continuity as the team moves toward launch.</a:t>
            </a:r>
          </a:p>
        </p:txBody>
      </p:sp>
      <p:sp>
        <p:nvSpPr>
          <p:cNvPr id="9" name="">
            <a:extLst xmlns:a="http://schemas.openxmlformats.org/drawingml/2006/main">
              <a:ext uri="{FF2B5EF4-FFF2-40B4-BE49-F238E27FC236}">
                <a16:creationId xmlns:a16="http://schemas.microsoft.com/office/drawing/2014/main" id="{7A7F5116-291E-4041-BC6E-706855E895E4}"/>
              </a:ext>
            </a:extLst>
          </p:cNvPr>
          <p:cNvSpPr>
            <a:spLocks xmlns:a="http://schemas.openxmlformats.org/drawingml/2006/main" noGrp="1"/>
          </p:cNvSpPr>
          <p:nvPr/>
        </p:nvSpPr>
        <p:spPr>
          <a:xfrm xmlns:a="http://schemas.openxmlformats.org/drawingml/2006/main">
            <a:off x="619125" y="5962650"/>
            <a:ext cx="10287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66756B"/>
                </a:solidFill>
                <a:latin typeface="Helvetica Neue"/>
                <a:ea typeface="Helvetica Neue"/>
                <a:cs typeface="Helvetica Neue"/>
              </a:defRPr>
            </a:pPr>
            <a:r>
              <a:rPr sz="1650" b="0">
                <a:solidFill>
                  <a:srgbClr val="66756B"/>
                </a:solidFill>
                <a:latin typeface="Helvetica Neue"/>
                <a:ea typeface="Helvetica Neue"/>
                <a:cs typeface="Helvetica Neue"/>
              </a:rPr>
              <a:t>Product hypotheses to validate with independent users</a:t>
            </a:r>
          </a:p>
        </p:txBody>
      </p:sp>
    </p:spTree>
    <p:extLst>
      <p:ext uri="{BB962C8B-B14F-4D97-AF65-F5344CB8AC3E}">
        <p14:creationId xmlns:p14="http://schemas.microsoft.com/office/powerpoint/2010/main" val="918199505"/>
      </p:ext>
    </p:extLst>
  </p:cSld>
</p:sld>
</file>

<file path=ppt/slides/slide3.xml><?xml version="1.0" encoding="utf-8"?>
<p:sld xmlns:p="http://schemas.openxmlformats.org/presentationml/2006/main">
  <p:cSld>
    <p:bg>
      <p:bgPr>
        <a:solidFill xmlns:a="http://schemas.openxmlformats.org/drawingml/2006/main">
          <a:srgbClr val="F4F1E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7B27EE2C-6E34-4FB3-88B0-D5A1F573D723}"/>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F35"/>
                </a:solidFill>
                <a:latin typeface="Helvetica Neue"/>
                <a:ea typeface="Helvetica Neue"/>
                <a:cs typeface="Helvetica Neue"/>
              </a:defRPr>
            </a:pPr>
            <a:r>
              <a:rPr sz="3450" b="1">
                <a:solidFill>
                  <a:srgbClr val="173F35"/>
                </a:solidFill>
                <a:latin typeface="Helvetica Neue"/>
                <a:ea typeface="Helvetica Neue"/>
                <a:cs typeface="Helvetica Neue"/>
              </a:rPr>
              <a:t>The GreatPM proposition</a:t>
            </a:r>
          </a:p>
        </p:txBody>
      </p:sp>
      <p:sp>
        <p:nvSpPr>
          <p:cNvPr id="2" name="">
            <a:extLst xmlns:a="http://schemas.openxmlformats.org/drawingml/2006/main">
              <a:ext uri="{FF2B5EF4-FFF2-40B4-BE49-F238E27FC236}">
                <a16:creationId xmlns:a16="http://schemas.microsoft.com/office/drawing/2014/main" id="{F5A3A3CF-2EF0-4EC2-B957-B6D68EB3BB20}"/>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56B"/>
                </a:solidFill>
                <a:latin typeface="Helvetica Neue"/>
                <a:ea typeface="Helvetica Neue"/>
                <a:cs typeface="Helvetica Neue"/>
              </a:defRPr>
            </a:pPr>
            <a:r>
              <a:rPr sz="1350" b="0">
                <a:solidFill>
                  <a:srgbClr val="66756B"/>
                </a:solidFill>
                <a:latin typeface="Helvetica Neue"/>
                <a:ea typeface="Helvetica Neue"/>
                <a:cs typeface="Helvetica Neue"/>
              </a:rPr>
              <a:t>03</a:t>
            </a:r>
          </a:p>
        </p:txBody>
      </p:sp>
      <p:sp>
        <p:nvSpPr>
          <p:cNvPr id="3" name="">
            <a:extLst xmlns:a="http://schemas.openxmlformats.org/drawingml/2006/main">
              <a:ext uri="{FF2B5EF4-FFF2-40B4-BE49-F238E27FC236}">
                <a16:creationId xmlns:a16="http://schemas.microsoft.com/office/drawing/2014/main" id="{CDF44815-CDD4-442E-A02F-712725084050}"/>
              </a:ext>
            </a:extLst>
          </p:cNvPr>
          <p:cNvSpPr>
            <a:spLocks xmlns:a="http://schemas.openxmlformats.org/drawingml/2006/main" noGrp="1"/>
          </p:cNvSpPr>
          <p:nvPr/>
        </p:nvSpPr>
        <p:spPr>
          <a:xfrm xmlns:a="http://schemas.openxmlformats.org/drawingml/2006/main">
            <a:off x="619125" y="15716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73F35"/>
                </a:solidFill>
                <a:latin typeface="Helvetica Neue"/>
                <a:ea typeface="Helvetica Neue"/>
                <a:cs typeface="Helvetica Neue"/>
              </a:defRPr>
            </a:pPr>
            <a:r>
              <a:rPr sz="2850" b="1">
                <a:solidFill>
                  <a:srgbClr val="173F35"/>
                </a:solidFill>
                <a:latin typeface="Helvetica Neue"/>
                <a:ea typeface="Helvetica Neue"/>
                <a:cs typeface="Helvetica Neue"/>
              </a:rPr>
              <a:t>A structured product process in the AI workspace</a:t>
            </a:r>
          </a:p>
        </p:txBody>
      </p:sp>
      <p:sp>
        <p:nvSpPr>
          <p:cNvPr id="4" name="">
            <a:extLst xmlns:a="http://schemas.openxmlformats.org/drawingml/2006/main">
              <a:ext uri="{FF2B5EF4-FFF2-40B4-BE49-F238E27FC236}">
                <a16:creationId xmlns:a16="http://schemas.microsoft.com/office/drawing/2014/main" id="{22C3969E-A535-42A9-8E49-E14995AC945E}"/>
              </a:ext>
            </a:extLst>
          </p:cNvPr>
          <p:cNvSpPr>
            <a:spLocks xmlns:a="http://schemas.openxmlformats.org/drawingml/2006/main" noGrp="1"/>
          </p:cNvSpPr>
          <p:nvPr/>
        </p:nvSpPr>
        <p:spPr>
          <a:xfrm xmlns:a="http://schemas.openxmlformats.org/drawingml/2006/main">
            <a:off x="619125" y="2419350"/>
            <a:ext cx="10763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1C302B"/>
                </a:solidFill>
                <a:latin typeface="Helvetica Neue"/>
                <a:ea typeface="Helvetica Neue"/>
                <a:cs typeface="Helvetica Neue"/>
              </a:defRPr>
            </a:pPr>
            <a:r>
              <a:rPr sz="2175" b="0">
                <a:solidFill>
                  <a:srgbClr val="1C302B"/>
                </a:solidFill>
                <a:latin typeface="Helvetica Neue"/>
                <a:ea typeface="Helvetica Neue"/>
                <a:cs typeface="Helvetica Neue"/>
              </a:rPr>
              <a:t>Specialist roles draft the work. Project memory carries context.</a:t>
            </a:r>
          </a:p>
          <a:p xmlns:a="http://schemas.openxmlformats.org/drawingml/2006/main">
            <a:pPr>
              <a:defRPr sz="2175" b="0">
                <a:solidFill>
                  <a:srgbClr val="1C302B"/>
                </a:solidFill>
                <a:latin typeface="Helvetica Neue"/>
                <a:ea typeface="Helvetica Neue"/>
                <a:cs typeface="Helvetica Neue"/>
              </a:defRPr>
            </a:pPr>
            <a:r>
              <a:rPr sz="2175" b="0">
                <a:solidFill>
                  <a:srgbClr val="1C302B"/>
                </a:solidFill>
                <a:latin typeface="Helvetica Neue"/>
                <a:ea typeface="Helvetica Neue"/>
                <a:cs typeface="Helvetica Neue"/>
              </a:rPr>
              <a:t>The human approves consequential decisions.</a:t>
            </a:r>
          </a:p>
        </p:txBody>
      </p:sp>
      <p:graphicFrame>
        <p:nvGraphicFramePr>
          <p:cNvPr id="11" name=""/>
          <p:cNvGraphicFramePr/>
          <p:nvPr/>
        </p:nvGraphicFramePr>
        <p:xfrm>
          <a:off xmlns:a="http://schemas.openxmlformats.org/drawingml/2006/main" x="609600" y="3800475"/>
          <a:ext xmlns:a="http://schemas.openxmlformats.org/drawingml/2006/main" cx="10972800" cy="1619250"/>
        </p:xfrm>
        <a:graphic xmlns:a="http://schemas.openxmlformats.org/drawingml/2006/main">
          <a:graphicData uri="http://schemas.openxmlformats.org/drawingml/2006/table">
            <a:tbl>
              <a:tblPr/>
              <a:tblGrid>
                <a:gridCol w="2667000"/>
                <a:gridCol w="3143250"/>
                <a:gridCol w="2571750"/>
                <a:gridCol w="2590800"/>
              </a:tblGrid>
              <a:tr h="809625">
                <a:tc>
                  <a:txBody>
                    <a:bodyPr>
                      <a:noAutofit/>
                    </a:bodyPr>
                    <a:lstStyle/>
                    <a:p>
                      <a:r>
                        <a:rPr sz="2100" b="1">
                          <a:solidFill>
                            <a:srgbClr val="F4F1E7"/>
                          </a:solidFill>
                          <a:latin typeface="Helvetica Neue"/>
                          <a:ea typeface="Helvetica Neue"/>
                          <a:cs typeface="Helvetica Neue"/>
                        </a:rPr>
                        <a:t>48</a:t>
                      </a:r>
                    </a:p>
                  </a:txBody>
                  <a:tcPr marL="152400" marR="152400" marT="114300" marB="95250" anchor="ctr">
                    <a:solidFill>
                      <a:srgbClr val="173F35"/>
                    </a:solidFill>
                  </a:tcPr>
                </a:tc>
                <a:tc>
                  <a:txBody>
                    <a:bodyPr>
                      <a:noAutofit/>
                    </a:bodyPr>
                    <a:lstStyle/>
                    <a:p>
                      <a:r>
                        <a:rPr sz="2100" b="1">
                          <a:solidFill>
                            <a:srgbClr val="F4F1E7"/>
                          </a:solidFill>
                          <a:latin typeface="Helvetica Neue"/>
                          <a:ea typeface="Helvetica Neue"/>
                          <a:cs typeface="Helvetica Neue"/>
                        </a:rPr>
                        <a:t>79</a:t>
                      </a:r>
                    </a:p>
                  </a:txBody>
                  <a:tcPr marL="152400" marR="152400" marT="114300" marB="95250" anchor="ctr">
                    <a:solidFill>
                      <a:srgbClr val="173F35"/>
                    </a:solidFill>
                  </a:tcPr>
                </a:tc>
                <a:tc>
                  <a:txBody>
                    <a:bodyPr>
                      <a:noAutofit/>
                    </a:bodyPr>
                    <a:lstStyle/>
                    <a:p>
                      <a:r>
                        <a:rPr sz="2100" b="1">
                          <a:solidFill>
                            <a:srgbClr val="F4F1E7"/>
                          </a:solidFill>
                          <a:latin typeface="Helvetica Neue"/>
                          <a:ea typeface="Helvetica Neue"/>
                          <a:cs typeface="Helvetica Neue"/>
                        </a:rPr>
                        <a:t>34</a:t>
                      </a:r>
                    </a:p>
                  </a:txBody>
                  <a:tcPr marL="152400" marR="152400" marT="114300" marB="95250" anchor="ctr">
                    <a:solidFill>
                      <a:srgbClr val="173F35"/>
                    </a:solidFill>
                  </a:tcPr>
                </a:tc>
                <a:tc>
                  <a:txBody>
                    <a:bodyPr>
                      <a:noAutofit/>
                    </a:bodyPr>
                    <a:lstStyle/>
                    <a:p>
                      <a:r>
                        <a:rPr sz="2100" b="1">
                          <a:solidFill>
                            <a:srgbClr val="F4F1E7"/>
                          </a:solidFill>
                          <a:latin typeface="Helvetica Neue"/>
                          <a:ea typeface="Helvetica Neue"/>
                          <a:cs typeface="Helvetica Neue"/>
                        </a:rPr>
                        <a:t>26</a:t>
                      </a:r>
                    </a:p>
                  </a:txBody>
                  <a:tcPr marL="152400" marR="152400" marT="114300" marB="95250" anchor="ctr">
                    <a:solidFill>
                      <a:srgbClr val="173F35"/>
                    </a:solidFill>
                  </a:tcPr>
                </a:tc>
              </a:tr>
              <a:tr h="809625">
                <a:tc>
                  <a:txBody>
                    <a:bodyPr>
                      <a:noAutofit/>
                    </a:bodyPr>
                    <a:lstStyle/>
                    <a:p>
                      <a:r>
                        <a:rPr sz="2100" b="0">
                          <a:solidFill>
                            <a:srgbClr val="1C302B"/>
                          </a:solidFill>
                          <a:latin typeface="Helvetica Neue"/>
                          <a:ea typeface="Helvetica Neue"/>
                          <a:cs typeface="Helvetica Neue"/>
                        </a:rPr>
                        <a:t>Specialist</a:t>
                      </a:r>
                    </a:p>
                    <a:p>
                      <a:r>
                        <a:rPr sz="2100" b="0">
                          <a:solidFill>
                            <a:srgbClr val="1C302B"/>
                          </a:solidFill>
                          <a:latin typeface="Helvetica Neue"/>
                          <a:ea typeface="Helvetica Neue"/>
                          <a:cs typeface="Helvetica Neue"/>
                        </a:rPr>
                        <a:t>definitions</a:t>
                      </a:r>
                    </a:p>
                  </a:txBody>
                  <a:tcPr marL="152400" marR="152400" marT="114300" marB="95250" anchor="ctr">
                    <a:solidFill>
                      <a:srgbClr val="F4F1E7"/>
                    </a:solidFill>
                  </a:tcPr>
                </a:tc>
                <a:tc>
                  <a:txBody>
                    <a:bodyPr>
                      <a:noAutofit/>
                    </a:bodyPr>
                    <a:lstStyle/>
                    <a:p>
                      <a:r>
                        <a:rPr sz="2100" b="0">
                          <a:solidFill>
                            <a:srgbClr val="1C302B"/>
                          </a:solidFill>
                          <a:latin typeface="Helvetica Neue"/>
                          <a:ea typeface="Helvetica Neue"/>
                          <a:cs typeface="Helvetica Neue"/>
                        </a:rPr>
                        <a:t>Product-management</a:t>
                      </a:r>
                    </a:p>
                    <a:p>
                      <a:r>
                        <a:rPr sz="2100" b="0">
                          <a:solidFill>
                            <a:srgbClr val="1C302B"/>
                          </a:solidFill>
                          <a:latin typeface="Helvetica Neue"/>
                          <a:ea typeface="Helvetica Neue"/>
                          <a:cs typeface="Helvetica Neue"/>
                        </a:rPr>
                        <a:t>skills</a:t>
                      </a:r>
                    </a:p>
                  </a:txBody>
                  <a:tcPr marL="152400" marR="152400" marT="114300" marB="95250" anchor="ctr">
                    <a:solidFill>
                      <a:srgbClr val="F4F1E7"/>
                    </a:solidFill>
                  </a:tcPr>
                </a:tc>
                <a:tc>
                  <a:txBody>
                    <a:bodyPr>
                      <a:noAutofit/>
                    </a:bodyPr>
                    <a:lstStyle/>
                    <a:p>
                      <a:r>
                        <a:rPr sz="2100" b="0">
                          <a:solidFill>
                            <a:srgbClr val="1C302B"/>
                          </a:solidFill>
                          <a:latin typeface="Helvetica Neue"/>
                          <a:ea typeface="Helvetica Neue"/>
                          <a:cs typeface="Helvetica Neue"/>
                        </a:rPr>
                        <a:t>Workflows</a:t>
                      </a:r>
                    </a:p>
                  </a:txBody>
                  <a:tcPr marL="152400" marR="152400" marT="114300" marB="95250" anchor="ctr">
                    <a:solidFill>
                      <a:srgbClr val="F4F1E7"/>
                    </a:solidFill>
                  </a:tcPr>
                </a:tc>
                <a:tc>
                  <a:txBody>
                    <a:bodyPr>
                      <a:noAutofit/>
                    </a:bodyPr>
                    <a:lstStyle/>
                    <a:p>
                      <a:r>
                        <a:rPr sz="2100" b="0">
                          <a:solidFill>
                            <a:srgbClr val="1C302B"/>
                          </a:solidFill>
                          <a:latin typeface="Helvetica Neue"/>
                          <a:ea typeface="Helvetica Neue"/>
                          <a:cs typeface="Helvetica Neue"/>
                        </a:rPr>
                        <a:t>Templates</a:t>
                      </a:r>
                    </a:p>
                  </a:txBody>
                  <a:tcPr marL="152400" marR="152400" marT="114300" marB="95250" anchor="ctr">
                    <a:solidFill>
                      <a:srgbClr val="F4F1E7"/>
                    </a:solidFill>
                  </a:tcPr>
                </a:tc>
              </a:tr>
            </a:tbl>
          </a:graphicData>
        </a:graphic>
      </p:graphicFrame>
      <p:sp>
        <p:nvSpPr>
          <p:cNvPr id="6" name="">
            <a:extLst xmlns:a="http://schemas.openxmlformats.org/drawingml/2006/main">
              <a:ext uri="{FF2B5EF4-FFF2-40B4-BE49-F238E27FC236}">
                <a16:creationId xmlns:a16="http://schemas.microsoft.com/office/drawing/2014/main" id="{15C86449-969A-4BFF-9F98-278DA0E69F15}"/>
              </a:ext>
            </a:extLst>
          </p:cNvPr>
          <p:cNvSpPr>
            <a:spLocks xmlns:a="http://schemas.openxmlformats.org/drawingml/2006/main" noGrp="1"/>
          </p:cNvSpPr>
          <p:nvPr/>
        </p:nvSpPr>
        <p:spPr>
          <a:xfrm xmlns:a="http://schemas.openxmlformats.org/drawingml/2006/main">
            <a:off x="619125" y="5848350"/>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3F35"/>
                </a:solidFill>
                <a:latin typeface="Helvetica Neue"/>
                <a:ea typeface="Helvetica Neue"/>
                <a:cs typeface="Helvetica Neue"/>
              </a:defRPr>
            </a:pPr>
            <a:r>
              <a:rPr sz="2025" b="1">
                <a:solidFill>
                  <a:srgbClr val="173F35"/>
                </a:solidFill>
                <a:latin typeface="Helvetica Neue"/>
                <a:ea typeface="Helvetica Neue"/>
                <a:cs typeface="Helvetica Neue"/>
              </a:rPr>
              <a:t>Full native package in Codex and Claude Code</a:t>
            </a:r>
          </a:p>
        </p:txBody>
      </p:sp>
    </p:spTree>
    <p:extLst>
      <p:ext uri="{BB962C8B-B14F-4D97-AF65-F5344CB8AC3E}">
        <p14:creationId xmlns:p14="http://schemas.microsoft.com/office/powerpoint/2010/main" val="1778167638"/>
      </p:ext>
    </p:extLst>
  </p:cSld>
</p:sld>
</file>

<file path=ppt/slides/slide4.xml><?xml version="1.0" encoding="utf-8"?>
<p:sld xmlns:p="http://schemas.openxmlformats.org/presentationml/2006/main">
  <p:cSld>
    <p:bg>
      <p:bgPr>
        <a:solidFill xmlns:a="http://schemas.openxmlformats.org/drawingml/2006/main">
          <a:srgbClr val="F4F1E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A15886D-27EE-40AD-84B8-AD2CB5A3A705}"/>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F35"/>
                </a:solidFill>
                <a:latin typeface="Helvetica Neue"/>
                <a:ea typeface="Helvetica Neue"/>
                <a:cs typeface="Helvetica Neue"/>
              </a:defRPr>
            </a:pPr>
            <a:r>
              <a:rPr sz="3450" b="1">
                <a:solidFill>
                  <a:srgbClr val="173F35"/>
                </a:solidFill>
                <a:latin typeface="Helvetica Neue"/>
                <a:ea typeface="Helvetica Neue"/>
                <a:cs typeface="Helvetica Neue"/>
              </a:rPr>
              <a:t>Six stages with three human gates</a:t>
            </a:r>
          </a:p>
        </p:txBody>
      </p:sp>
      <p:sp>
        <p:nvSpPr>
          <p:cNvPr id="2" name="">
            <a:extLst xmlns:a="http://schemas.openxmlformats.org/drawingml/2006/main">
              <a:ext uri="{FF2B5EF4-FFF2-40B4-BE49-F238E27FC236}">
                <a16:creationId xmlns:a16="http://schemas.microsoft.com/office/drawing/2014/main" id="{CA6BD071-A25A-40D2-BD3A-7BBA584B430C}"/>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56B"/>
                </a:solidFill>
                <a:latin typeface="Helvetica Neue"/>
                <a:ea typeface="Helvetica Neue"/>
                <a:cs typeface="Helvetica Neue"/>
              </a:defRPr>
            </a:pPr>
            <a:r>
              <a:rPr sz="1350" b="0">
                <a:solidFill>
                  <a:srgbClr val="66756B"/>
                </a:solidFill>
                <a:latin typeface="Helvetica Neue"/>
                <a:ea typeface="Helvetica Neue"/>
                <a:cs typeface="Helvetica Neue"/>
              </a:rPr>
              <a:t>04</a:t>
            </a:r>
          </a:p>
        </p:txBody>
      </p:sp>
      <p:graphicFrame>
        <p:nvGraphicFramePr>
          <p:cNvPr id="7" name=""/>
          <p:cNvGraphicFramePr/>
          <p:nvPr/>
        </p:nvGraphicFramePr>
        <p:xfrm>
          <a:off xmlns:a="http://schemas.openxmlformats.org/drawingml/2006/main" x="609600" y="1533525"/>
          <a:ext xmlns:a="http://schemas.openxmlformats.org/drawingml/2006/main" cx="10972800" cy="4286250"/>
        </p:xfrm>
        <a:graphic xmlns:a="http://schemas.openxmlformats.org/drawingml/2006/main">
          <a:graphicData uri="http://schemas.openxmlformats.org/drawingml/2006/table">
            <a:tbl>
              <a:tblPr/>
              <a:tblGrid>
                <a:gridCol w="2333625"/>
                <a:gridCol w="5143500"/>
                <a:gridCol w="3495675"/>
              </a:tblGrid>
              <a:tr h="612321">
                <a:tc>
                  <a:txBody>
                    <a:bodyPr>
                      <a:noAutofit/>
                    </a:bodyPr>
                    <a:lstStyle/>
                    <a:p>
                      <a:r>
                        <a:rPr sz="1800" b="1">
                          <a:solidFill>
                            <a:srgbClr val="F4F1E7"/>
                          </a:solidFill>
                          <a:latin typeface="Helvetica Neue"/>
                          <a:ea typeface="Helvetica Neue"/>
                          <a:cs typeface="Helvetica Neue"/>
                        </a:rPr>
                        <a:t>Stage</a:t>
                      </a:r>
                    </a:p>
                  </a:txBody>
                  <a:tcPr marL="152400" marR="152400" marT="114300" marB="95250" anchor="ctr">
                    <a:solidFill>
                      <a:srgbClr val="173F35"/>
                    </a:solidFill>
                  </a:tcPr>
                </a:tc>
                <a:tc>
                  <a:txBody>
                    <a:bodyPr>
                      <a:noAutofit/>
                    </a:bodyPr>
                    <a:lstStyle/>
                    <a:p>
                      <a:r>
                        <a:rPr sz="1800" b="1">
                          <a:solidFill>
                            <a:srgbClr val="F4F1E7"/>
                          </a:solidFill>
                          <a:latin typeface="Helvetica Neue"/>
                          <a:ea typeface="Helvetica Neue"/>
                          <a:cs typeface="Helvetica Neue"/>
                        </a:rPr>
                        <a:t>Typical product work</a:t>
                      </a:r>
                    </a:p>
                  </a:txBody>
                  <a:tcPr marL="152400" marR="152400" marT="114300" marB="95250" anchor="ctr">
                    <a:solidFill>
                      <a:srgbClr val="173F35"/>
                    </a:solidFill>
                  </a:tcPr>
                </a:tc>
                <a:tc>
                  <a:txBody>
                    <a:bodyPr>
                      <a:noAutofit/>
                    </a:bodyPr>
                    <a:lstStyle/>
                    <a:p>
                      <a:r>
                        <a:rPr sz="1800" b="1">
                          <a:solidFill>
                            <a:srgbClr val="F4F1E7"/>
                          </a:solidFill>
                          <a:latin typeface="Helvetica Neue"/>
                          <a:ea typeface="Helvetica Neue"/>
                          <a:cs typeface="Helvetica Neue"/>
                        </a:rPr>
                        <a:t>Human control</a:t>
                      </a:r>
                    </a:p>
                  </a:txBody>
                  <a:tcPr marL="152400" marR="152400" marT="114300" marB="95250" anchor="ctr">
                    <a:solidFill>
                      <a:srgbClr val="173F35"/>
                    </a:solidFill>
                  </a:tcPr>
                </a:tc>
              </a:tr>
              <a:tr h="612321">
                <a:tc>
                  <a:txBody>
                    <a:bodyPr>
                      <a:noAutofit/>
                    </a:bodyPr>
                    <a:lstStyle/>
                    <a:p>
                      <a:r>
                        <a:rPr sz="1800" b="0">
                          <a:solidFill>
                            <a:srgbClr val="1C302B"/>
                          </a:solidFill>
                          <a:latin typeface="Helvetica Neue"/>
                          <a:ea typeface="Helvetica Neue"/>
                          <a:cs typeface="Helvetica Neue"/>
                        </a:rPr>
                        <a:t>Discover</a:t>
                      </a:r>
                    </a:p>
                  </a:txBody>
                  <a:tcPr marL="152400" marR="152400" marT="114300" marB="95250" anchor="ctr">
                    <a:solidFill>
                      <a:srgbClr val="F4F1E7"/>
                    </a:solidFill>
                  </a:tcPr>
                </a:tc>
                <a:tc>
                  <a:txBody>
                    <a:bodyPr>
                      <a:noAutofit/>
                    </a:bodyPr>
                    <a:lstStyle/>
                    <a:p>
                      <a:r>
                        <a:rPr sz="1800" b="0">
                          <a:solidFill>
                            <a:srgbClr val="1C302B"/>
                          </a:solidFill>
                          <a:latin typeface="Helvetica Neue"/>
                          <a:ea typeface="Helvetica Neue"/>
                          <a:cs typeface="Helvetica Neue"/>
                        </a:rPr>
                        <a:t>Evidence and customer needs</a:t>
                      </a:r>
                    </a:p>
                  </a:txBody>
                  <a:tcPr marL="152400" marR="152400" marT="114300" marB="95250" anchor="ctr">
                    <a:solidFill>
                      <a:srgbClr val="F4F1E7"/>
                    </a:solidFill>
                  </a:tcPr>
                </a:tc>
                <a:tc>
                  <a:txBody>
                    <a:bodyPr>
                      <a:noAutofit/>
                    </a:bodyPr>
                    <a:lstStyle/>
                    <a:p>
                      <a:r>
                        <a:rPr sz="1800" b="0">
                          <a:solidFill>
                            <a:srgbClr val="1C302B"/>
                          </a:solidFill>
                          <a:latin typeface="Helvetica Neue"/>
                          <a:ea typeface="Helvetica Neue"/>
                          <a:cs typeface="Helvetica Neue"/>
                        </a:rPr>
                        <a:t/>
                      </a:r>
                    </a:p>
                  </a:txBody>
                  <a:tcPr marL="152400" marR="152400" marT="114300" marB="95250" anchor="ctr">
                    <a:solidFill>
                      <a:srgbClr val="F4F1E7"/>
                    </a:solidFill>
                  </a:tcPr>
                </a:tc>
              </a:tr>
              <a:tr h="612321">
                <a:tc>
                  <a:txBody>
                    <a:bodyPr>
                      <a:noAutofit/>
                    </a:bodyPr>
                    <a:lstStyle/>
                    <a:p>
                      <a:r>
                        <a:rPr sz="1800" b="0">
                          <a:solidFill>
                            <a:srgbClr val="1C302B"/>
                          </a:solidFill>
                          <a:latin typeface="Helvetica Neue"/>
                          <a:ea typeface="Helvetica Neue"/>
                          <a:cs typeface="Helvetica Neue"/>
                        </a:rPr>
                        <a:t>Strategize</a:t>
                      </a:r>
                    </a:p>
                  </a:txBody>
                  <a:tcPr marL="152400" marR="152400" marT="114300" marB="95250" anchor="ctr">
                    <a:solidFill>
                      <a:srgbClr val="E8EDE3"/>
                    </a:solidFill>
                  </a:tcPr>
                </a:tc>
                <a:tc>
                  <a:txBody>
                    <a:bodyPr>
                      <a:noAutofit/>
                    </a:bodyPr>
                    <a:lstStyle/>
                    <a:p>
                      <a:r>
                        <a:rPr sz="1800" b="0">
                          <a:solidFill>
                            <a:srgbClr val="1C302B"/>
                          </a:solidFill>
                          <a:latin typeface="Helvetica Neue"/>
                          <a:ea typeface="Helvetica Neue"/>
                          <a:cs typeface="Helvetica Neue"/>
                        </a:rPr>
                        <a:t>Positioning and product direction</a:t>
                      </a:r>
                    </a:p>
                  </a:txBody>
                  <a:tcPr marL="152400" marR="152400" marT="114300" marB="95250" anchor="ctr">
                    <a:solidFill>
                      <a:srgbClr val="E8EDE3"/>
                    </a:solidFill>
                  </a:tcPr>
                </a:tc>
                <a:tc>
                  <a:txBody>
                    <a:bodyPr>
                      <a:noAutofit/>
                    </a:bodyPr>
                    <a:lstStyle/>
                    <a:p>
                      <a:r>
                        <a:rPr sz="1800" b="0">
                          <a:solidFill>
                            <a:srgbClr val="1C302B"/>
                          </a:solidFill>
                          <a:latin typeface="Helvetica Neue"/>
                          <a:ea typeface="Helvetica Neue"/>
                          <a:cs typeface="Helvetica Neue"/>
                        </a:rPr>
                        <a:t/>
                      </a:r>
                    </a:p>
                  </a:txBody>
                  <a:tcPr marL="152400" marR="152400" marT="114300" marB="95250" anchor="ctr">
                    <a:solidFill>
                      <a:srgbClr val="E8EDE3"/>
                    </a:solidFill>
                  </a:tcPr>
                </a:tc>
              </a:tr>
              <a:tr h="612321">
                <a:tc>
                  <a:txBody>
                    <a:bodyPr>
                      <a:noAutofit/>
                    </a:bodyPr>
                    <a:lstStyle/>
                    <a:p>
                      <a:r>
                        <a:rPr sz="1800" b="0">
                          <a:solidFill>
                            <a:srgbClr val="1C302B"/>
                          </a:solidFill>
                          <a:latin typeface="Helvetica Neue"/>
                          <a:ea typeface="Helvetica Neue"/>
                          <a:cs typeface="Helvetica Neue"/>
                        </a:rPr>
                        <a:t>Prioritize</a:t>
                      </a:r>
                    </a:p>
                  </a:txBody>
                  <a:tcPr marL="152400" marR="152400" marT="114300" marB="95250" anchor="ctr">
                    <a:solidFill>
                      <a:srgbClr val="F4F1E7"/>
                    </a:solidFill>
                  </a:tcPr>
                </a:tc>
                <a:tc>
                  <a:txBody>
                    <a:bodyPr>
                      <a:noAutofit/>
                    </a:bodyPr>
                    <a:lstStyle/>
                    <a:p>
                      <a:r>
                        <a:rPr sz="1800" b="0">
                          <a:solidFill>
                            <a:srgbClr val="1C302B"/>
                          </a:solidFill>
                          <a:latin typeface="Helvetica Neue"/>
                          <a:ea typeface="Helvetica Neue"/>
                          <a:cs typeface="Helvetica Neue"/>
                        </a:rPr>
                        <a:t>Tradeoffs and roadmap</a:t>
                      </a:r>
                    </a:p>
                  </a:txBody>
                  <a:tcPr marL="152400" marR="152400" marT="114300" marB="95250" anchor="ctr">
                    <a:solidFill>
                      <a:srgbClr val="F4F1E7"/>
                    </a:solidFill>
                  </a:tcPr>
                </a:tc>
                <a:tc>
                  <a:txBody>
                    <a:bodyPr>
                      <a:noAutofit/>
                    </a:bodyPr>
                    <a:lstStyle/>
                    <a:p>
                      <a:r>
                        <a:rPr sz="1800" b="0">
                          <a:solidFill>
                            <a:srgbClr val="1C302B"/>
                          </a:solidFill>
                          <a:latin typeface="Helvetica Neue"/>
                          <a:ea typeface="Helvetica Neue"/>
                          <a:cs typeface="Helvetica Neue"/>
                        </a:rPr>
                        <a:t>Strategy approval</a:t>
                      </a:r>
                    </a:p>
                  </a:txBody>
                  <a:tcPr marL="152400" marR="152400" marT="114300" marB="95250" anchor="ctr">
                    <a:solidFill>
                      <a:srgbClr val="F4F1E7"/>
                    </a:solidFill>
                  </a:tcPr>
                </a:tc>
              </a:tr>
              <a:tr h="612321">
                <a:tc>
                  <a:txBody>
                    <a:bodyPr>
                      <a:noAutofit/>
                    </a:bodyPr>
                    <a:lstStyle/>
                    <a:p>
                      <a:r>
                        <a:rPr sz="1800" b="0">
                          <a:solidFill>
                            <a:srgbClr val="1C302B"/>
                          </a:solidFill>
                          <a:latin typeface="Helvetica Neue"/>
                          <a:ea typeface="Helvetica Neue"/>
                          <a:cs typeface="Helvetica Neue"/>
                        </a:rPr>
                        <a:t>Define</a:t>
                      </a:r>
                    </a:p>
                  </a:txBody>
                  <a:tcPr marL="152400" marR="152400" marT="114300" marB="95250" anchor="ctr">
                    <a:solidFill>
                      <a:srgbClr val="E8EDE3"/>
                    </a:solidFill>
                  </a:tcPr>
                </a:tc>
                <a:tc>
                  <a:txBody>
                    <a:bodyPr>
                      <a:noAutofit/>
                    </a:bodyPr>
                    <a:lstStyle/>
                    <a:p>
                      <a:r>
                        <a:rPr sz="1800" b="0">
                          <a:solidFill>
                            <a:srgbClr val="1C302B"/>
                          </a:solidFill>
                          <a:latin typeface="Helvetica Neue"/>
                          <a:ea typeface="Helvetica Neue"/>
                          <a:cs typeface="Helvetica Neue"/>
                        </a:rPr>
                        <a:t>PRD and success metrics</a:t>
                      </a:r>
                    </a:p>
                  </a:txBody>
                  <a:tcPr marL="152400" marR="152400" marT="114300" marB="95250" anchor="ctr">
                    <a:solidFill>
                      <a:srgbClr val="E8EDE3"/>
                    </a:solidFill>
                  </a:tcPr>
                </a:tc>
                <a:tc>
                  <a:txBody>
                    <a:bodyPr>
                      <a:noAutofit/>
                    </a:bodyPr>
                    <a:lstStyle/>
                    <a:p>
                      <a:r>
                        <a:rPr sz="1800" b="0">
                          <a:solidFill>
                            <a:srgbClr val="1C302B"/>
                          </a:solidFill>
                          <a:latin typeface="Helvetica Neue"/>
                          <a:ea typeface="Helvetica Neue"/>
                          <a:cs typeface="Helvetica Neue"/>
                        </a:rPr>
                        <a:t>Specification approval</a:t>
                      </a:r>
                    </a:p>
                  </a:txBody>
                  <a:tcPr marL="152400" marR="152400" marT="114300" marB="95250" anchor="ctr">
                    <a:solidFill>
                      <a:srgbClr val="E8EDE3"/>
                    </a:solidFill>
                  </a:tcPr>
                </a:tc>
              </a:tr>
              <a:tr h="612321">
                <a:tc>
                  <a:txBody>
                    <a:bodyPr>
                      <a:noAutofit/>
                    </a:bodyPr>
                    <a:lstStyle/>
                    <a:p>
                      <a:r>
                        <a:rPr sz="1800" b="0">
                          <a:solidFill>
                            <a:srgbClr val="1C302B"/>
                          </a:solidFill>
                          <a:latin typeface="Helvetica Neue"/>
                          <a:ea typeface="Helvetica Neue"/>
                          <a:cs typeface="Helvetica Neue"/>
                        </a:rPr>
                        <a:t>Launch</a:t>
                      </a:r>
                    </a:p>
                  </a:txBody>
                  <a:tcPr marL="152400" marR="152400" marT="114300" marB="95250" anchor="ctr">
                    <a:solidFill>
                      <a:srgbClr val="F4F1E7"/>
                    </a:solidFill>
                  </a:tcPr>
                </a:tc>
                <a:tc>
                  <a:txBody>
                    <a:bodyPr>
                      <a:noAutofit/>
                    </a:bodyPr>
                    <a:lstStyle/>
                    <a:p>
                      <a:r>
                        <a:rPr sz="1800" b="0">
                          <a:solidFill>
                            <a:srgbClr val="1C302B"/>
                          </a:solidFill>
                          <a:latin typeface="Helvetica Neue"/>
                          <a:ea typeface="Helvetica Neue"/>
                          <a:cs typeface="Helvetica Neue"/>
                        </a:rPr>
                        <a:t>Readiness and rollout</a:t>
                      </a:r>
                    </a:p>
                  </a:txBody>
                  <a:tcPr marL="152400" marR="152400" marT="114300" marB="95250" anchor="ctr">
                    <a:solidFill>
                      <a:srgbClr val="F4F1E7"/>
                    </a:solidFill>
                  </a:tcPr>
                </a:tc>
                <a:tc>
                  <a:txBody>
                    <a:bodyPr>
                      <a:noAutofit/>
                    </a:bodyPr>
                    <a:lstStyle/>
                    <a:p>
                      <a:r>
                        <a:rPr sz="1800" b="0">
                          <a:solidFill>
                            <a:srgbClr val="1C302B"/>
                          </a:solidFill>
                          <a:latin typeface="Helvetica Neue"/>
                          <a:ea typeface="Helvetica Neue"/>
                          <a:cs typeface="Helvetica Neue"/>
                        </a:rPr>
                        <a:t>Launch approval</a:t>
                      </a:r>
                    </a:p>
                  </a:txBody>
                  <a:tcPr marL="152400" marR="152400" marT="114300" marB="95250" anchor="ctr">
                    <a:solidFill>
                      <a:srgbClr val="F4F1E7"/>
                    </a:solidFill>
                  </a:tcPr>
                </a:tc>
              </a:tr>
              <a:tr h="612321">
                <a:tc>
                  <a:txBody>
                    <a:bodyPr>
                      <a:noAutofit/>
                    </a:bodyPr>
                    <a:lstStyle/>
                    <a:p>
                      <a:r>
                        <a:rPr sz="1800" b="0">
                          <a:solidFill>
                            <a:srgbClr val="1C302B"/>
                          </a:solidFill>
                          <a:latin typeface="Helvetica Neue"/>
                          <a:ea typeface="Helvetica Neue"/>
                          <a:cs typeface="Helvetica Neue"/>
                        </a:rPr>
                        <a:t>Measure</a:t>
                      </a:r>
                    </a:p>
                  </a:txBody>
                  <a:tcPr marL="152400" marR="152400" marT="114300" marB="95250" anchor="ctr">
                    <a:solidFill>
                      <a:srgbClr val="E8EDE3"/>
                    </a:solidFill>
                  </a:tcPr>
                </a:tc>
                <a:tc>
                  <a:txBody>
                    <a:bodyPr>
                      <a:noAutofit/>
                    </a:bodyPr>
                    <a:lstStyle/>
                    <a:p>
                      <a:r>
                        <a:rPr sz="1800" b="0">
                          <a:solidFill>
                            <a:srgbClr val="1C302B"/>
                          </a:solidFill>
                          <a:latin typeface="Helvetica Neue"/>
                          <a:ea typeface="Helvetica Neue"/>
                          <a:cs typeface="Helvetica Neue"/>
                        </a:rPr>
                        <a:t>Results and next questions</a:t>
                      </a:r>
                    </a:p>
                  </a:txBody>
                  <a:tcPr marL="152400" marR="152400" marT="114300" marB="95250" anchor="ctr">
                    <a:solidFill>
                      <a:srgbClr val="E8EDE3"/>
                    </a:solidFill>
                  </a:tcPr>
                </a:tc>
                <a:tc>
                  <a:txBody>
                    <a:bodyPr>
                      <a:noAutofit/>
                    </a:bodyPr>
                    <a:lstStyle/>
                    <a:p>
                      <a:r>
                        <a:rPr sz="1800" b="0">
                          <a:solidFill>
                            <a:srgbClr val="1C302B"/>
                          </a:solidFill>
                          <a:latin typeface="Helvetica Neue"/>
                          <a:ea typeface="Helvetica Neue"/>
                          <a:cs typeface="Helvetica Neue"/>
                        </a:rPr>
                        <a:t>Next discovery cycle</a:t>
                      </a:r>
                    </a:p>
                  </a:txBody>
                  <a:tcPr marL="152400" marR="152400" marT="114300" marB="95250" anchor="ctr">
                    <a:solidFill>
                      <a:srgbClr val="E8EDE3"/>
                    </a:solidFill>
                  </a:tcPr>
                </a:tc>
              </a:tr>
            </a:tbl>
          </a:graphicData>
        </a:graphic>
      </p:graphicFrame>
      <p:sp>
        <p:nvSpPr>
          <p:cNvPr id="4" name="">
            <a:extLst xmlns:a="http://schemas.openxmlformats.org/drawingml/2006/main">
              <a:ext uri="{FF2B5EF4-FFF2-40B4-BE49-F238E27FC236}">
                <a16:creationId xmlns:a16="http://schemas.microsoft.com/office/drawing/2014/main" id="{81AFE677-0ACE-47C9-8AA7-452796BFC4D2}"/>
              </a:ext>
            </a:extLst>
          </p:cNvPr>
          <p:cNvSpPr>
            <a:spLocks xmlns:a="http://schemas.openxmlformats.org/drawingml/2006/main" noGrp="1"/>
          </p:cNvSpPr>
          <p:nvPr/>
        </p:nvSpPr>
        <p:spPr>
          <a:xfrm xmlns:a="http://schemas.openxmlformats.org/drawingml/2006/main">
            <a:off x="619125" y="604837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1">
                <a:solidFill>
                  <a:srgbClr val="173F35"/>
                </a:solidFill>
                <a:latin typeface="Helvetica Neue"/>
                <a:ea typeface="Helvetica Neue"/>
                <a:cs typeface="Helvetica Neue"/>
              </a:defRPr>
            </a:pPr>
            <a:r>
              <a:rPr sz="1725" b="1">
                <a:solidFill>
                  <a:srgbClr val="173F35"/>
                </a:solidFill>
                <a:latin typeface="Helvetica Neue"/>
                <a:ea typeface="Helvetica Neue"/>
                <a:cs typeface="Helvetica Neue"/>
              </a:rPr>
              <a:t>Agents propose. The human approves strategy, specification and launch.</a:t>
            </a:r>
          </a:p>
        </p:txBody>
      </p:sp>
    </p:spTree>
    <p:extLst>
      <p:ext uri="{BB962C8B-B14F-4D97-AF65-F5344CB8AC3E}">
        <p14:creationId xmlns:p14="http://schemas.microsoft.com/office/powerpoint/2010/main" val="1461493520"/>
      </p:ext>
    </p:extLst>
  </p:cSld>
</p:sld>
</file>

<file path=ppt/slides/slide5.xml><?xml version="1.0" encoding="utf-8"?>
<p:sld xmlns:p="http://schemas.openxmlformats.org/presentationml/2006/main">
  <p:cSld>
    <p:bg>
      <p:bgPr>
        <a:solidFill xmlns:a="http://schemas.openxmlformats.org/drawingml/2006/main">
          <a:srgbClr val="173F35"/>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EB21F17-7879-4928-9930-00D9BCBBFDD2}"/>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4F1E7"/>
                </a:solidFill>
                <a:latin typeface="Helvetica Neue"/>
                <a:ea typeface="Helvetica Neue"/>
                <a:cs typeface="Helvetica Neue"/>
              </a:defRPr>
            </a:pPr>
            <a:r>
              <a:rPr sz="3450" b="1">
                <a:solidFill>
                  <a:srgbClr val="F4F1E7"/>
                </a:solidFill>
                <a:latin typeface="Helvetica Neue"/>
                <a:ea typeface="Helvetica Neue"/>
                <a:cs typeface="Helvetica Neue"/>
              </a:rPr>
              <a:t>GreatPM Grill Me</a:t>
            </a:r>
          </a:p>
        </p:txBody>
      </p:sp>
      <p:sp>
        <p:nvSpPr>
          <p:cNvPr id="2" name="">
            <a:extLst xmlns:a="http://schemas.openxmlformats.org/drawingml/2006/main">
              <a:ext uri="{FF2B5EF4-FFF2-40B4-BE49-F238E27FC236}">
                <a16:creationId xmlns:a16="http://schemas.microsoft.com/office/drawing/2014/main" id="{14F52E78-D44E-4509-A605-6D80430395AA}"/>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D8E5DA"/>
                </a:solidFill>
                <a:latin typeface="Helvetica Neue"/>
                <a:ea typeface="Helvetica Neue"/>
                <a:cs typeface="Helvetica Neue"/>
              </a:defRPr>
            </a:pPr>
            <a:r>
              <a:rPr sz="1350" b="0">
                <a:solidFill>
                  <a:srgbClr val="D8E5DA"/>
                </a:solidFill>
                <a:latin typeface="Helvetica Neue"/>
                <a:ea typeface="Helvetica Neue"/>
                <a:cs typeface="Helvetica Neue"/>
              </a:rPr>
              <a:t>05</a:t>
            </a:r>
          </a:p>
        </p:txBody>
      </p:sp>
      <p:sp>
        <p:nvSpPr>
          <p:cNvPr id="3" name="">
            <a:extLst xmlns:a="http://schemas.openxmlformats.org/drawingml/2006/main">
              <a:ext uri="{FF2B5EF4-FFF2-40B4-BE49-F238E27FC236}">
                <a16:creationId xmlns:a16="http://schemas.microsoft.com/office/drawing/2014/main" id="{A34135B7-E407-4E9E-B66C-D04197C23FA1}"/>
              </a:ext>
            </a:extLst>
          </p:cNvPr>
          <p:cNvSpPr>
            <a:spLocks xmlns:a="http://schemas.openxmlformats.org/drawingml/2006/main" noGrp="1"/>
          </p:cNvSpPr>
          <p:nvPr/>
        </p:nvSpPr>
        <p:spPr>
          <a:xfrm xmlns:a="http://schemas.openxmlformats.org/drawingml/2006/main">
            <a:off x="619125" y="1524000"/>
            <a:ext cx="10477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F4F1E7"/>
                </a:solidFill>
                <a:latin typeface="Helvetica Neue"/>
                <a:ea typeface="Helvetica Neue"/>
                <a:cs typeface="Helvetica Neue"/>
              </a:defRPr>
            </a:pPr>
            <a:r>
              <a:rPr sz="3375" b="1">
                <a:solidFill>
                  <a:srgbClr val="F4F1E7"/>
                </a:solidFill>
                <a:latin typeface="Helvetica Neue"/>
                <a:ea typeface="Helvetica Neue"/>
                <a:cs typeface="Helvetica Neue"/>
              </a:rPr>
              <a:t>$grill-me</a:t>
            </a:r>
          </a:p>
        </p:txBody>
      </p:sp>
      <p:sp>
        <p:nvSpPr>
          <p:cNvPr id="4" name="">
            <a:extLst xmlns:a="http://schemas.openxmlformats.org/drawingml/2006/main">
              <a:ext uri="{FF2B5EF4-FFF2-40B4-BE49-F238E27FC236}">
                <a16:creationId xmlns:a16="http://schemas.microsoft.com/office/drawing/2014/main" id="{80C5D811-D7A2-40D9-B51C-7F33A94B85BB}"/>
              </a:ext>
            </a:extLst>
          </p:cNvPr>
          <p:cNvSpPr>
            <a:spLocks xmlns:a="http://schemas.openxmlformats.org/drawingml/2006/main" noGrp="1"/>
          </p:cNvSpPr>
          <p:nvPr/>
        </p:nvSpPr>
        <p:spPr>
          <a:xfrm xmlns:a="http://schemas.openxmlformats.org/drawingml/2006/main">
            <a:off x="619125" y="2238375"/>
            <a:ext cx="10382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0">
                <a:solidFill>
                  <a:srgbClr val="F4F1E7"/>
                </a:solidFill>
                <a:latin typeface="Helvetica Neue"/>
                <a:ea typeface="Helvetica Neue"/>
                <a:cs typeface="Helvetica Neue"/>
              </a:defRPr>
            </a:pPr>
            <a:r>
              <a:rPr sz="2625" b="0">
                <a:solidFill>
                  <a:srgbClr val="F4F1E7"/>
                </a:solidFill>
                <a:latin typeface="Helvetica Neue"/>
                <a:ea typeface="Helvetica Neue"/>
                <a:cs typeface="Helvetica Neue"/>
              </a:rPr>
              <a:t>Challenges fuzzy thinking before a team commits</a:t>
            </a:r>
          </a:p>
        </p:txBody>
      </p:sp>
      <p:sp>
        <p:nvSpPr>
          <p:cNvPr id="5" name="">
            <a:extLst xmlns:a="http://schemas.openxmlformats.org/drawingml/2006/main">
              <a:ext uri="{FF2B5EF4-FFF2-40B4-BE49-F238E27FC236}">
                <a16:creationId xmlns:a16="http://schemas.microsoft.com/office/drawing/2014/main" id="{1DE7F049-3945-4B4C-ADC6-1449F68AAD30}"/>
              </a:ext>
            </a:extLst>
          </p:cNvPr>
          <p:cNvSpPr>
            <a:spLocks xmlns:a="http://schemas.openxmlformats.org/drawingml/2006/main" noGrp="1"/>
          </p:cNvSpPr>
          <p:nvPr/>
        </p:nvSpPr>
        <p:spPr>
          <a:xfrm xmlns:a="http://schemas.openxmlformats.org/drawingml/2006/main">
            <a:off x="619125" y="3267075"/>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4F1E7"/>
                </a:solidFill>
                <a:latin typeface="Helvetica Neue"/>
                <a:ea typeface="Helvetica Neue"/>
                <a:cs typeface="Helvetica Neue"/>
              </a:defRPr>
            </a:pPr>
            <a:r>
              <a:rPr sz="2175" b="1">
                <a:solidFill>
                  <a:srgbClr val="F4F1E7"/>
                </a:solidFill>
                <a:latin typeface="Helvetica Neue"/>
                <a:ea typeface="Helvetica Neue"/>
                <a:cs typeface="Helvetica Neue"/>
              </a:rPr>
              <a:t>Illustrative request</a:t>
            </a:r>
          </a:p>
        </p:txBody>
      </p:sp>
      <p:sp>
        <p:nvSpPr>
          <p:cNvPr id="6" name="">
            <a:extLst xmlns:a="http://schemas.openxmlformats.org/drawingml/2006/main">
              <a:ext uri="{FF2B5EF4-FFF2-40B4-BE49-F238E27FC236}">
                <a16:creationId xmlns:a16="http://schemas.microsoft.com/office/drawing/2014/main" id="{D673B51D-C28C-43D7-AE84-E0915323128F}"/>
              </a:ext>
            </a:extLst>
          </p:cNvPr>
          <p:cNvSpPr>
            <a:spLocks xmlns:a="http://schemas.openxmlformats.org/drawingml/2006/main" noGrp="1"/>
          </p:cNvSpPr>
          <p:nvPr/>
        </p:nvSpPr>
        <p:spPr>
          <a:xfrm xmlns:a="http://schemas.openxmlformats.org/drawingml/2006/main">
            <a:off x="619125" y="3819525"/>
            <a:ext cx="48577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8E5DA"/>
                </a:solidFill>
                <a:latin typeface="Helvetica Neue"/>
                <a:ea typeface="Helvetica Neue"/>
                <a:cs typeface="Helvetica Neue"/>
              </a:defRPr>
            </a:pPr>
            <a:r>
              <a:rPr sz="2025" b="0">
                <a:solidFill>
                  <a:srgbClr val="D8E5DA"/>
                </a:solidFill>
                <a:latin typeface="Helvetica Neue"/>
                <a:ea typeface="Helvetica Neue"/>
                <a:cs typeface="Helvetica Neue"/>
              </a:rPr>
              <a:t>“Add an AI onboarding assistant.”</a:t>
            </a:r>
          </a:p>
        </p:txBody>
      </p:sp>
      <p:sp>
        <p:nvSpPr>
          <p:cNvPr id="7" name="">
            <a:extLst xmlns:a="http://schemas.openxmlformats.org/drawingml/2006/main">
              <a:ext uri="{FF2B5EF4-FFF2-40B4-BE49-F238E27FC236}">
                <a16:creationId xmlns:a16="http://schemas.microsoft.com/office/drawing/2014/main" id="{7041E185-A7CE-4E81-8BB5-E200A5E4F0E4}"/>
              </a:ext>
            </a:extLst>
          </p:cNvPr>
          <p:cNvSpPr>
            <a:spLocks xmlns:a="http://schemas.openxmlformats.org/drawingml/2006/main" noGrp="1"/>
          </p:cNvSpPr>
          <p:nvPr/>
        </p:nvSpPr>
        <p:spPr>
          <a:xfrm xmlns:a="http://schemas.openxmlformats.org/drawingml/2006/main">
            <a:off x="6248400" y="3267075"/>
            <a:ext cx="5334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4F1E7"/>
                </a:solidFill>
                <a:latin typeface="Helvetica Neue"/>
                <a:ea typeface="Helvetica Neue"/>
                <a:cs typeface="Helvetica Neue"/>
              </a:defRPr>
            </a:pPr>
            <a:r>
              <a:rPr sz="2175" b="1">
                <a:solidFill>
                  <a:srgbClr val="F4F1E7"/>
                </a:solidFill>
                <a:latin typeface="Helvetica Neue"/>
                <a:ea typeface="Helvetica Neue"/>
                <a:cs typeface="Helvetica Neue"/>
              </a:rPr>
              <a:t>Questions worth answering</a:t>
            </a:r>
          </a:p>
        </p:txBody>
      </p:sp>
      <p:sp>
        <p:nvSpPr>
          <p:cNvPr id="8" name="">
            <a:extLst xmlns:a="http://schemas.openxmlformats.org/drawingml/2006/main">
              <a:ext uri="{FF2B5EF4-FFF2-40B4-BE49-F238E27FC236}">
                <a16:creationId xmlns:a16="http://schemas.microsoft.com/office/drawing/2014/main" id="{606F8BA2-6D8B-4109-9C23-6A1A1B168D61}"/>
              </a:ext>
            </a:extLst>
          </p:cNvPr>
          <p:cNvSpPr>
            <a:spLocks xmlns:a="http://schemas.openxmlformats.org/drawingml/2006/main" noGrp="1"/>
          </p:cNvSpPr>
          <p:nvPr/>
        </p:nvSpPr>
        <p:spPr>
          <a:xfrm xmlns:a="http://schemas.openxmlformats.org/drawingml/2006/main">
            <a:off x="6248400" y="3819525"/>
            <a:ext cx="53340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8E5DA"/>
                </a:solidFill>
                <a:latin typeface="Helvetica Neue"/>
                <a:ea typeface="Helvetica Neue"/>
                <a:cs typeface="Helvetica Neue"/>
              </a:defRPr>
            </a:pPr>
            <a:r>
              <a:rPr sz="2025" b="0">
                <a:solidFill>
                  <a:srgbClr val="D8E5DA"/>
                </a:solidFill>
                <a:latin typeface="Helvetica Neue"/>
                <a:ea typeface="Helvetica Neue"/>
                <a:cs typeface="Helvetica Neue"/>
              </a:rPr>
              <a:t>Who gets stuck today?</a:t>
            </a:r>
          </a:p>
          <a:p xmlns:a="http://schemas.openxmlformats.org/drawingml/2006/main">
            <a:pPr>
              <a:defRPr sz="2025" b="0">
                <a:solidFill>
                  <a:srgbClr val="D8E5DA"/>
                </a:solidFill>
                <a:latin typeface="Helvetica Neue"/>
                <a:ea typeface="Helvetica Neue"/>
                <a:cs typeface="Helvetica Neue"/>
              </a:defRPr>
            </a:pPr>
            <a:r>
              <a:rPr sz="2025" b="0">
                <a:solidFill>
                  <a:srgbClr val="D8E5DA"/>
                </a:solidFill>
                <a:latin typeface="Helvetica Neue"/>
                <a:ea typeface="Helvetica Neue"/>
                <a:cs typeface="Helvetica Neue"/>
              </a:rPr>
              <a:t>Where does onboarding break?</a:t>
            </a:r>
          </a:p>
          <a:p xmlns:a="http://schemas.openxmlformats.org/drawingml/2006/main">
            <a:pPr>
              <a:defRPr sz="2025" b="0">
                <a:solidFill>
                  <a:srgbClr val="D8E5DA"/>
                </a:solidFill>
                <a:latin typeface="Helvetica Neue"/>
                <a:ea typeface="Helvetica Neue"/>
                <a:cs typeface="Helvetica Neue"/>
              </a:defRPr>
            </a:pPr>
            <a:r>
              <a:rPr sz="2025" b="0">
                <a:solidFill>
                  <a:srgbClr val="D8E5DA"/>
                </a:solidFill>
                <a:latin typeface="Helvetica Neue"/>
                <a:ea typeface="Helvetica Neue"/>
                <a:cs typeface="Helvetica Neue"/>
              </a:rPr>
              <a:t>Could a simpler change solve it?</a:t>
            </a:r>
          </a:p>
        </p:txBody>
      </p:sp>
      <p:sp>
        <p:nvSpPr>
          <p:cNvPr id="9" name="">
            <a:extLst xmlns:a="http://schemas.openxmlformats.org/drawingml/2006/main">
              <a:ext uri="{FF2B5EF4-FFF2-40B4-BE49-F238E27FC236}">
                <a16:creationId xmlns:a16="http://schemas.microsoft.com/office/drawing/2014/main" id="{079CAA76-1097-4CE9-8612-4B4ADE14D7DD}"/>
              </a:ext>
            </a:extLst>
          </p:cNvPr>
          <p:cNvSpPr>
            <a:spLocks xmlns:a="http://schemas.openxmlformats.org/drawingml/2006/main" noGrp="1"/>
          </p:cNvSpPr>
          <p:nvPr/>
        </p:nvSpPr>
        <p:spPr>
          <a:xfrm xmlns:a="http://schemas.openxmlformats.org/drawingml/2006/main">
            <a:off x="619125" y="5429250"/>
            <a:ext cx="1066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8E5DA"/>
                </a:solidFill>
                <a:latin typeface="Helvetica Neue"/>
                <a:ea typeface="Helvetica Neue"/>
                <a:cs typeface="Helvetica Neue"/>
              </a:defRPr>
            </a:pPr>
            <a:r>
              <a:rPr sz="2025" b="0">
                <a:solidFill>
                  <a:srgbClr val="D8E5DA"/>
                </a:solidFill>
                <a:latin typeface="Helvetica Neue"/>
                <a:ea typeface="Helvetica Neue"/>
                <a:cs typeface="Helvetica Neue"/>
              </a:rPr>
              <a:t>Output: a sharper situation brief and explicit unknowns.</a:t>
            </a:r>
          </a:p>
          <a:p xmlns:a="http://schemas.openxmlformats.org/drawingml/2006/main">
            <a:pPr>
              <a:defRPr sz="2025" b="0">
                <a:solidFill>
                  <a:srgbClr val="D8E5DA"/>
                </a:solidFill>
                <a:latin typeface="Helvetica Neue"/>
                <a:ea typeface="Helvetica Neue"/>
                <a:cs typeface="Helvetica Neue"/>
              </a:defRPr>
            </a:pPr>
            <a:r>
              <a:rPr sz="2025" b="0">
                <a:solidFill>
                  <a:srgbClr val="D8E5DA"/>
                </a:solidFill>
                <a:latin typeface="Helvetica Neue"/>
                <a:ea typeface="Helvetica Neue"/>
                <a:cs typeface="Helvetica Neue"/>
              </a:rPr>
              <a:t>The human can answer, skip or override.</a:t>
            </a:r>
          </a:p>
        </p:txBody>
      </p:sp>
    </p:spTree>
    <p:extLst>
      <p:ext uri="{BB962C8B-B14F-4D97-AF65-F5344CB8AC3E}">
        <p14:creationId xmlns:p14="http://schemas.microsoft.com/office/powerpoint/2010/main" val="246550880"/>
      </p:ext>
    </p:extLst>
  </p:cSld>
</p:sld>
</file>

<file path=ppt/slides/slide6.xml><?xml version="1.0" encoding="utf-8"?>
<p:sld xmlns:p="http://schemas.openxmlformats.org/presentationml/2006/main">
  <p:cSld>
    <p:bg>
      <p:bgPr>
        <a:solidFill xmlns:a="http://schemas.openxmlformats.org/drawingml/2006/main">
          <a:srgbClr val="F4F1E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9A533B1-1EEF-4ADC-829C-CB3A18AE5B3A}"/>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F35"/>
                </a:solidFill>
                <a:latin typeface="Helvetica Neue"/>
                <a:ea typeface="Helvetica Neue"/>
                <a:cs typeface="Helvetica Neue"/>
              </a:defRPr>
            </a:pPr>
            <a:r>
              <a:rPr sz="3450" b="1">
                <a:solidFill>
                  <a:srgbClr val="173F35"/>
                </a:solidFill>
                <a:latin typeface="Helvetica Neue"/>
                <a:ea typeface="Helvetica Neue"/>
                <a:cs typeface="Helvetica Neue"/>
              </a:rPr>
              <a:t>The local product board</a:t>
            </a:r>
          </a:p>
        </p:txBody>
      </p:sp>
      <p:sp>
        <p:nvSpPr>
          <p:cNvPr id="2" name="">
            <a:extLst xmlns:a="http://schemas.openxmlformats.org/drawingml/2006/main">
              <a:ext uri="{FF2B5EF4-FFF2-40B4-BE49-F238E27FC236}">
                <a16:creationId xmlns:a16="http://schemas.microsoft.com/office/drawing/2014/main" id="{861C7BBF-3885-4D05-8D23-90AD21E959EC}"/>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56B"/>
                </a:solidFill>
                <a:latin typeface="Helvetica Neue"/>
                <a:ea typeface="Helvetica Neue"/>
                <a:cs typeface="Helvetica Neue"/>
              </a:defRPr>
            </a:pPr>
            <a:r>
              <a:rPr sz="1350" b="0">
                <a:solidFill>
                  <a:srgbClr val="66756B"/>
                </a:solidFill>
                <a:latin typeface="Helvetica Neue"/>
                <a:ea typeface="Helvetica Neue"/>
                <a:cs typeface="Helvetica Neue"/>
              </a:rPr>
              <a:t>06</a:t>
            </a:r>
          </a:p>
        </p:txBody>
      </p:sp>
      <p:sp>
        <p:nvSpPr>
          <p:cNvPr id="3" name="">
            <a:extLst xmlns:a="http://schemas.openxmlformats.org/drawingml/2006/main">
              <a:ext uri="{FF2B5EF4-FFF2-40B4-BE49-F238E27FC236}">
                <a16:creationId xmlns:a16="http://schemas.microsoft.com/office/drawing/2014/main" id="{3E91AF22-7DD2-4CD5-861E-CBF7726ED337}"/>
              </a:ext>
            </a:extLst>
          </p:cNvPr>
          <p:cNvSpPr>
            <a:spLocks xmlns:a="http://schemas.openxmlformats.org/drawingml/2006/main" noGrp="1"/>
          </p:cNvSpPr>
          <p:nvPr/>
        </p:nvSpPr>
        <p:spPr>
          <a:xfrm xmlns:a="http://schemas.openxmlformats.org/drawingml/2006/main">
            <a:off x="619125" y="1485900"/>
            <a:ext cx="26670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66756B"/>
                </a:solidFill>
                <a:latin typeface="Helvetica Neue"/>
                <a:ea typeface="Helvetica Neue"/>
                <a:cs typeface="Helvetica Neue"/>
              </a:defRPr>
            </a:pPr>
            <a:r>
              <a:rPr sz="1875" b="1">
                <a:solidFill>
                  <a:srgbClr val="66756B"/>
                </a:solidFill>
                <a:latin typeface="Helvetica Neue"/>
                <a:ea typeface="Helvetica Neue"/>
                <a:cs typeface="Helvetica Neue"/>
              </a:rPr>
              <a:t>Demo data</a:t>
            </a:r>
          </a:p>
        </p:txBody>
      </p:sp>
      <p:sp>
        <p:nvSpPr>
          <p:cNvPr id="4" name="">
            <a:extLst xmlns:a="http://schemas.openxmlformats.org/drawingml/2006/main">
              <a:ext uri="{FF2B5EF4-FFF2-40B4-BE49-F238E27FC236}">
                <a16:creationId xmlns:a16="http://schemas.microsoft.com/office/drawing/2014/main" id="{AA438D58-33F6-4AF0-8080-DE1CA6650C30}"/>
              </a:ext>
            </a:extLst>
          </p:cNvPr>
          <p:cNvSpPr>
            <a:spLocks xmlns:a="http://schemas.openxmlformats.org/drawingml/2006/main" noGrp="1"/>
          </p:cNvSpPr>
          <p:nvPr/>
        </p:nvSpPr>
        <p:spPr>
          <a:xfrm xmlns:a="http://schemas.openxmlformats.org/drawingml/2006/main">
            <a:off x="619125" y="2181225"/>
            <a:ext cx="333375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173F35"/>
                </a:solidFill>
                <a:latin typeface="Helvetica Neue"/>
                <a:ea typeface="Helvetica Neue"/>
                <a:cs typeface="Helvetica Neue"/>
              </a:defRPr>
            </a:pPr>
            <a:r>
              <a:rPr sz="2775" b="1">
                <a:solidFill>
                  <a:srgbClr val="173F35"/>
                </a:solidFill>
                <a:latin typeface="Helvetica Neue"/>
                <a:ea typeface="Helvetica Neue"/>
                <a:cs typeface="Helvetica Neue"/>
              </a:rPr>
              <a:t>One place to inspect</a:t>
            </a:r>
          </a:p>
          <a:p xmlns:a="http://schemas.openxmlformats.org/drawingml/2006/main">
            <a:pPr>
              <a:defRPr sz="2775" b="1">
                <a:solidFill>
                  <a:srgbClr val="173F35"/>
                </a:solidFill>
                <a:latin typeface="Helvetica Neue"/>
                <a:ea typeface="Helvetica Neue"/>
                <a:cs typeface="Helvetica Neue"/>
              </a:defRPr>
            </a:pPr>
            <a:r>
              <a:rPr sz="2775" b="1">
                <a:solidFill>
                  <a:srgbClr val="173F35"/>
                </a:solidFill>
                <a:latin typeface="Helvetica Neue"/>
                <a:ea typeface="Helvetica Neue"/>
                <a:cs typeface="Helvetica Neue"/>
              </a:rPr>
              <a:t>product work and</a:t>
            </a:r>
          </a:p>
          <a:p xmlns:a="http://schemas.openxmlformats.org/drawingml/2006/main">
            <a:pPr>
              <a:defRPr sz="2775" b="1">
                <a:solidFill>
                  <a:srgbClr val="173F35"/>
                </a:solidFill>
                <a:latin typeface="Helvetica Neue"/>
                <a:ea typeface="Helvetica Neue"/>
                <a:cs typeface="Helvetica Neue"/>
              </a:defRPr>
            </a:pPr>
            <a:r>
              <a:rPr sz="2775" b="1">
                <a:solidFill>
                  <a:srgbClr val="173F35"/>
                </a:solidFill>
                <a:latin typeface="Helvetica Neue"/>
                <a:ea typeface="Helvetica Neue"/>
                <a:cs typeface="Helvetica Neue"/>
              </a:rPr>
              <a:t>pending decisions</a:t>
            </a:r>
          </a:p>
        </p:txBody>
      </p:sp>
      <p:sp>
        <p:nvSpPr>
          <p:cNvPr id="5" name="">
            <a:extLst xmlns:a="http://schemas.openxmlformats.org/drawingml/2006/main">
              <a:ext uri="{FF2B5EF4-FFF2-40B4-BE49-F238E27FC236}">
                <a16:creationId xmlns:a16="http://schemas.microsoft.com/office/drawing/2014/main" id="{B050C199-7429-4C99-98BC-BA79A15A230B}"/>
              </a:ext>
            </a:extLst>
          </p:cNvPr>
          <p:cNvSpPr>
            <a:spLocks xmlns:a="http://schemas.openxmlformats.org/drawingml/2006/main" noGrp="1"/>
          </p:cNvSpPr>
          <p:nvPr/>
        </p:nvSpPr>
        <p:spPr>
          <a:xfrm xmlns:a="http://schemas.openxmlformats.org/drawingml/2006/main">
            <a:off x="619125" y="4143375"/>
            <a:ext cx="30480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02B"/>
                </a:solidFill>
                <a:latin typeface="Helvetica Neue"/>
                <a:ea typeface="Helvetica Neue"/>
                <a:cs typeface="Helvetica Neue"/>
              </a:defRPr>
            </a:pPr>
            <a:r>
              <a:rPr sz="2100" b="0">
                <a:solidFill>
                  <a:srgbClr val="1C302B"/>
                </a:solidFill>
                <a:latin typeface="Helvetica Neue"/>
                <a:ea typeface="Helvetica Neue"/>
                <a:cs typeface="Helvetica Neue"/>
              </a:rPr>
              <a:t>A local view of the</a:t>
            </a:r>
          </a:p>
          <a:p xmlns:a="http://schemas.openxmlformats.org/drawingml/2006/main">
            <a:pPr>
              <a:defRPr sz="2100" b="0">
                <a:solidFill>
                  <a:srgbClr val="1C302B"/>
                </a:solidFill>
                <a:latin typeface="Helvetica Neue"/>
                <a:ea typeface="Helvetica Neue"/>
                <a:cs typeface="Helvetica Neue"/>
              </a:defRPr>
            </a:pPr>
            <a:r>
              <a:rPr sz="2100" b="0">
                <a:solidFill>
                  <a:srgbClr val="1C302B"/>
                </a:solidFill>
                <a:latin typeface="Helvetica Neue"/>
                <a:ea typeface="Helvetica Neue"/>
                <a:cs typeface="Helvetica Neue"/>
              </a:rPr>
              <a:t>project’s .great-pm state</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69e4e66d3f074ff8"/>
          <a:stretch xmlns:a="http://schemas.openxmlformats.org/drawingml/2006/main"/>
        </p:blipFill>
        <p:spPr>
          <a:xfrm xmlns:a="http://schemas.openxmlformats.org/drawingml/2006/main">
            <a:off x="3952875" y="1458913"/>
            <a:ext cx="7677150" cy="4921250"/>
          </a:xfrm>
          <a:prstGeom xmlns:a="http://schemas.openxmlformats.org/drawingml/2006/main" prst="rect">
            <a:avLst/>
          </a:prstGeom>
        </p:spPr>
      </p:pic>
    </p:spTree>
    <p:extLst>
      <p:ext uri="{BB962C8B-B14F-4D97-AF65-F5344CB8AC3E}">
        <p14:creationId xmlns:p14="http://schemas.microsoft.com/office/powerpoint/2010/main" val="915068125"/>
      </p:ext>
    </p:extLst>
  </p:cSld>
</p:sld>
</file>

<file path=ppt/slides/slide7.xml><?xml version="1.0" encoding="utf-8"?>
<p:sld xmlns:p="http://schemas.openxmlformats.org/presentationml/2006/main">
  <p:cSld>
    <p:bg>
      <p:bgPr>
        <a:solidFill xmlns:a="http://schemas.openxmlformats.org/drawingml/2006/main">
          <a:srgbClr val="F4F1E7"/>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2DBA85B-26AE-4D7F-90EF-15AAB6F07723}"/>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F35"/>
                </a:solidFill>
                <a:latin typeface="Helvetica Neue"/>
                <a:ea typeface="Helvetica Neue"/>
                <a:cs typeface="Helvetica Neue"/>
              </a:defRPr>
            </a:pPr>
            <a:r>
              <a:rPr sz="3450" b="1">
                <a:solidFill>
                  <a:srgbClr val="173F35"/>
                </a:solidFill>
                <a:latin typeface="Helvetica Neue"/>
                <a:ea typeface="Helvetica Neue"/>
                <a:cs typeface="Helvetica Neue"/>
              </a:rPr>
              <a:t>Native plugin and MCP have different roles</a:t>
            </a:r>
          </a:p>
        </p:txBody>
      </p:sp>
      <p:sp>
        <p:nvSpPr>
          <p:cNvPr id="2" name="">
            <a:extLst xmlns:a="http://schemas.openxmlformats.org/drawingml/2006/main">
              <a:ext uri="{FF2B5EF4-FFF2-40B4-BE49-F238E27FC236}">
                <a16:creationId xmlns:a16="http://schemas.microsoft.com/office/drawing/2014/main" id="{915FB0B6-BC4B-481D-919D-2EB0BE0D0215}"/>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56B"/>
                </a:solidFill>
                <a:latin typeface="Helvetica Neue"/>
                <a:ea typeface="Helvetica Neue"/>
                <a:cs typeface="Helvetica Neue"/>
              </a:defRPr>
            </a:pPr>
            <a:r>
              <a:rPr sz="1350" b="0">
                <a:solidFill>
                  <a:srgbClr val="66756B"/>
                </a:solidFill>
                <a:latin typeface="Helvetica Neue"/>
                <a:ea typeface="Helvetica Neue"/>
                <a:cs typeface="Helvetica Neue"/>
              </a:rPr>
              <a:t>07</a:t>
            </a:r>
          </a:p>
        </p:txBody>
      </p:sp>
      <p:graphicFrame>
        <p:nvGraphicFramePr>
          <p:cNvPr id="7" name=""/>
          <p:cNvGraphicFramePr/>
          <p:nvPr/>
        </p:nvGraphicFramePr>
        <p:xfrm>
          <a:off xmlns:a="http://schemas.openxmlformats.org/drawingml/2006/main" x="609600" y="1619250"/>
          <a:ext xmlns:a="http://schemas.openxmlformats.org/drawingml/2006/main" cx="10972800" cy="4010025"/>
        </p:xfrm>
        <a:graphic xmlns:a="http://schemas.openxmlformats.org/drawingml/2006/main">
          <a:graphicData uri="http://schemas.openxmlformats.org/drawingml/2006/table">
            <a:tbl>
              <a:tblPr/>
              <a:tblGrid>
                <a:gridCol w="2571750"/>
                <a:gridCol w="4200525"/>
                <a:gridCol w="4200525"/>
              </a:tblGrid>
              <a:tr h="668338">
                <a:tc>
                  <a:txBody>
                    <a:bodyPr>
                      <a:noAutofit/>
                    </a:bodyPr>
                    <a:lstStyle/>
                    <a:p>
                      <a:r>
                        <a:rPr sz="1725" b="1">
                          <a:solidFill>
                            <a:srgbClr val="F4F1E7"/>
                          </a:solidFill>
                          <a:latin typeface="Helvetica Neue"/>
                          <a:ea typeface="Helvetica Neue"/>
                          <a:cs typeface="Helvetica Neue"/>
                        </a:rPr>
                        <a:t>Capability</a:t>
                      </a:r>
                    </a:p>
                  </a:txBody>
                  <a:tcPr marL="152400" marR="152400" marT="114300" marB="95250" anchor="ctr">
                    <a:solidFill>
                      <a:srgbClr val="173F35"/>
                    </a:solidFill>
                  </a:tcPr>
                </a:tc>
                <a:tc>
                  <a:txBody>
                    <a:bodyPr>
                      <a:noAutofit/>
                    </a:bodyPr>
                    <a:lstStyle/>
                    <a:p>
                      <a:r>
                        <a:rPr sz="1725" b="1">
                          <a:solidFill>
                            <a:srgbClr val="F4F1E7"/>
                          </a:solidFill>
                          <a:latin typeface="Helvetica Neue"/>
                          <a:ea typeface="Helvetica Neue"/>
                          <a:cs typeface="Helvetica Neue"/>
                        </a:rPr>
                        <a:t>Full native plugin</a:t>
                      </a:r>
                    </a:p>
                  </a:txBody>
                  <a:tcPr marL="152400" marR="152400" marT="114300" marB="95250" anchor="ctr">
                    <a:solidFill>
                      <a:srgbClr val="173F35"/>
                    </a:solidFill>
                  </a:tcPr>
                </a:tc>
                <a:tc>
                  <a:txBody>
                    <a:bodyPr>
                      <a:noAutofit/>
                    </a:bodyPr>
                    <a:lstStyle/>
                    <a:p>
                      <a:r>
                        <a:rPr sz="1725" b="1">
                          <a:solidFill>
                            <a:srgbClr val="F4F1E7"/>
                          </a:solidFill>
                          <a:latin typeface="Helvetica Neue"/>
                          <a:ea typeface="Helvetica Neue"/>
                          <a:cs typeface="Helvetica Neue"/>
                        </a:rPr>
                        <a:t>Optional public MCP</a:t>
                      </a:r>
                    </a:p>
                  </a:txBody>
                  <a:tcPr marL="152400" marR="152400" marT="114300" marB="95250" anchor="ctr">
                    <a:solidFill>
                      <a:srgbClr val="173F35"/>
                    </a:solidFill>
                  </a:tcPr>
                </a:tc>
              </a:tr>
              <a:tr h="668338">
                <a:tc>
                  <a:txBody>
                    <a:bodyPr>
                      <a:noAutofit/>
                    </a:bodyPr>
                    <a:lstStyle/>
                    <a:p>
                      <a:r>
                        <a:rPr sz="1725" b="0">
                          <a:solidFill>
                            <a:srgbClr val="1C302B"/>
                          </a:solidFill>
                          <a:latin typeface="Helvetica Neue"/>
                          <a:ea typeface="Helvetica Neue"/>
                          <a:cs typeface="Helvetica Neue"/>
                        </a:rPr>
                        <a:t>Primary use</a:t>
                      </a:r>
                    </a:p>
                  </a:txBody>
                  <a:tcPr marL="152400" marR="152400" marT="114300" marB="95250" anchor="ctr">
                    <a:solidFill>
                      <a:srgbClr val="F4F1E7"/>
                    </a:solidFill>
                  </a:tcPr>
                </a:tc>
                <a:tc>
                  <a:txBody>
                    <a:bodyPr>
                      <a:noAutofit/>
                    </a:bodyPr>
                    <a:lstStyle/>
                    <a:p>
                      <a:r>
                        <a:rPr sz="1725" b="0">
                          <a:solidFill>
                            <a:srgbClr val="1C302B"/>
                          </a:solidFill>
                          <a:latin typeface="Helvetica Neue"/>
                          <a:ea typeface="Helvetica Neue"/>
                          <a:cs typeface="Helvetica Neue"/>
                        </a:rPr>
                        <a:t>Run product workflows</a:t>
                      </a:r>
                    </a:p>
                  </a:txBody>
                  <a:tcPr marL="152400" marR="152400" marT="114300" marB="95250" anchor="ctr">
                    <a:solidFill>
                      <a:srgbClr val="F4F1E7"/>
                    </a:solidFill>
                  </a:tcPr>
                </a:tc>
                <a:tc>
                  <a:txBody>
                    <a:bodyPr>
                      <a:noAutofit/>
                    </a:bodyPr>
                    <a:lstStyle/>
                    <a:p>
                      <a:r>
                        <a:rPr sz="1725" b="0">
                          <a:solidFill>
                            <a:srgbClr val="1C302B"/>
                          </a:solidFill>
                          <a:latin typeface="Helvetica Neue"/>
                          <a:ea typeface="Helvetica Neue"/>
                          <a:cs typeface="Helvetica Neue"/>
                        </a:rPr>
                        <a:t>Retrieve methods and prepare plans</a:t>
                      </a:r>
                    </a:p>
                  </a:txBody>
                  <a:tcPr marL="152400" marR="152400" marT="114300" marB="95250" anchor="ctr">
                    <a:solidFill>
                      <a:srgbClr val="F4F1E7"/>
                    </a:solidFill>
                  </a:tcPr>
                </a:tc>
              </a:tr>
              <a:tr h="668338">
                <a:tc>
                  <a:txBody>
                    <a:bodyPr>
                      <a:noAutofit/>
                    </a:bodyPr>
                    <a:lstStyle/>
                    <a:p>
                      <a:r>
                        <a:rPr sz="1725" b="0">
                          <a:solidFill>
                            <a:srgbClr val="1C302B"/>
                          </a:solidFill>
                          <a:latin typeface="Helvetica Neue"/>
                          <a:ea typeface="Helvetica Neue"/>
                          <a:cs typeface="Helvetica Neue"/>
                        </a:rPr>
                        <a:t>Product knowledge</a:t>
                      </a:r>
                    </a:p>
                  </a:txBody>
                  <a:tcPr marL="152400" marR="152400" marT="114300" marB="95250" anchor="ctr">
                    <a:solidFill>
                      <a:srgbClr val="E8EDE3"/>
                    </a:solidFill>
                  </a:tcPr>
                </a:tc>
                <a:tc>
                  <a:txBody>
                    <a:bodyPr>
                      <a:noAutofit/>
                    </a:bodyPr>
                    <a:lstStyle/>
                    <a:p>
                      <a:r>
                        <a:rPr sz="1725" b="0">
                          <a:solidFill>
                            <a:srgbClr val="1C302B"/>
                          </a:solidFill>
                          <a:latin typeface="Helvetica Neue"/>
                          <a:ea typeface="Helvetica Neue"/>
                          <a:cs typeface="Helvetica Neue"/>
                        </a:rPr>
                        <a:t>79 skills and 26 templates</a:t>
                      </a:r>
                    </a:p>
                  </a:txBody>
                  <a:tcPr marL="152400" marR="152400" marT="114300" marB="95250" anchor="ctr">
                    <a:solidFill>
                      <a:srgbClr val="E8EDE3"/>
                    </a:solidFill>
                  </a:tcPr>
                </a:tc>
                <a:tc>
                  <a:txBody>
                    <a:bodyPr>
                      <a:noAutofit/>
                    </a:bodyPr>
                    <a:lstStyle/>
                    <a:p>
                      <a:r>
                        <a:rPr sz="1725" b="0">
                          <a:solidFill>
                            <a:srgbClr val="1C302B"/>
                          </a:solidFill>
                          <a:latin typeface="Helvetica Neue"/>
                          <a:ea typeface="Helvetica Neue"/>
                          <a:cs typeface="Helvetica Neue"/>
                        </a:rPr>
                        <a:t>28 methods and 10 templates</a:t>
                      </a:r>
                    </a:p>
                  </a:txBody>
                  <a:tcPr marL="152400" marR="152400" marT="114300" marB="95250" anchor="ctr">
                    <a:solidFill>
                      <a:srgbClr val="E8EDE3"/>
                    </a:solidFill>
                  </a:tcPr>
                </a:tc>
              </a:tr>
              <a:tr h="668338">
                <a:tc>
                  <a:txBody>
                    <a:bodyPr>
                      <a:noAutofit/>
                    </a:bodyPr>
                    <a:lstStyle/>
                    <a:p>
                      <a:r>
                        <a:rPr sz="1725" b="0">
                          <a:solidFill>
                            <a:srgbClr val="1C302B"/>
                          </a:solidFill>
                          <a:latin typeface="Helvetica Neue"/>
                          <a:ea typeface="Helvetica Neue"/>
                          <a:cs typeface="Helvetica Neue"/>
                        </a:rPr>
                        <a:t>Specialist workflow</a:t>
                      </a:r>
                    </a:p>
                  </a:txBody>
                  <a:tcPr marL="152400" marR="152400" marT="114300" marB="95250" anchor="ctr">
                    <a:solidFill>
                      <a:srgbClr val="F4F1E7"/>
                    </a:solidFill>
                  </a:tcPr>
                </a:tc>
                <a:tc>
                  <a:txBody>
                    <a:bodyPr>
                      <a:noAutofit/>
                    </a:bodyPr>
                    <a:lstStyle/>
                    <a:p>
                      <a:r>
                        <a:rPr sz="1725" b="0">
                          <a:solidFill>
                            <a:srgbClr val="1C302B"/>
                          </a:solidFill>
                          <a:latin typeface="Helvetica Neue"/>
                          <a:ea typeface="Helvetica Neue"/>
                          <a:cs typeface="Helvetica Neue"/>
                        </a:rPr>
                        <a:t>48 role definitions</a:t>
                      </a:r>
                    </a:p>
                  </a:txBody>
                  <a:tcPr marL="152400" marR="152400" marT="114300" marB="95250" anchor="ctr">
                    <a:solidFill>
                      <a:srgbClr val="F4F1E7"/>
                    </a:solidFill>
                  </a:tcPr>
                </a:tc>
                <a:tc>
                  <a:txBody>
                    <a:bodyPr>
                      <a:noAutofit/>
                    </a:bodyPr>
                    <a:lstStyle/>
                    <a:p>
                      <a:r>
                        <a:rPr sz="1725" b="0">
                          <a:solidFill>
                            <a:srgbClr val="1C302B"/>
                          </a:solidFill>
                          <a:latin typeface="Helvetica Neue"/>
                          <a:ea typeface="Helvetica Neue"/>
                          <a:cs typeface="Helvetica Neue"/>
                        </a:rPr>
                        <a:t>No agent execution</a:t>
                      </a:r>
                    </a:p>
                  </a:txBody>
                  <a:tcPr marL="152400" marR="152400" marT="114300" marB="95250" anchor="ctr">
                    <a:solidFill>
                      <a:srgbClr val="F4F1E7"/>
                    </a:solidFill>
                  </a:tcPr>
                </a:tc>
              </a:tr>
              <a:tr h="668338">
                <a:tc>
                  <a:txBody>
                    <a:bodyPr>
                      <a:noAutofit/>
                    </a:bodyPr>
                    <a:lstStyle/>
                    <a:p>
                      <a:r>
                        <a:rPr sz="1725" b="0">
                          <a:solidFill>
                            <a:srgbClr val="1C302B"/>
                          </a:solidFill>
                          <a:latin typeface="Helvetica Neue"/>
                          <a:ea typeface="Helvetica Neue"/>
                          <a:cs typeface="Helvetica Neue"/>
                        </a:rPr>
                        <a:t>Project continuity</a:t>
                      </a:r>
                    </a:p>
                  </a:txBody>
                  <a:tcPr marL="152400" marR="152400" marT="114300" marB="95250" anchor="ctr">
                    <a:solidFill>
                      <a:srgbClr val="E8EDE3"/>
                    </a:solidFill>
                  </a:tcPr>
                </a:tc>
                <a:tc>
                  <a:txBody>
                    <a:bodyPr>
                      <a:noAutofit/>
                    </a:bodyPr>
                    <a:lstStyle/>
                    <a:p>
                      <a:r>
                        <a:rPr sz="1725" b="0">
                          <a:solidFill>
                            <a:srgbClr val="1C302B"/>
                          </a:solidFill>
                          <a:latin typeface="Helvetica Neue"/>
                          <a:ea typeface="Helvetica Neue"/>
                          <a:cs typeface="Helvetica Neue"/>
                        </a:rPr>
                        <a:t>Local .great-pm state and board</a:t>
                      </a:r>
                    </a:p>
                  </a:txBody>
                  <a:tcPr marL="152400" marR="152400" marT="114300" marB="95250" anchor="ctr">
                    <a:solidFill>
                      <a:srgbClr val="E8EDE3"/>
                    </a:solidFill>
                  </a:tcPr>
                </a:tc>
                <a:tc>
                  <a:txBody>
                    <a:bodyPr>
                      <a:noAutofit/>
                    </a:bodyPr>
                    <a:lstStyle/>
                    <a:p>
                      <a:r>
                        <a:rPr sz="1725" b="0">
                          <a:solidFill>
                            <a:srgbClr val="1C302B"/>
                          </a:solidFill>
                          <a:latin typeface="Helvetica Neue"/>
                          <a:ea typeface="Helvetica Neue"/>
                          <a:cs typeface="Helvetica Neue"/>
                        </a:rPr>
                        <a:t>No project-file access</a:t>
                      </a:r>
                    </a:p>
                  </a:txBody>
                  <a:tcPr marL="152400" marR="152400" marT="114300" marB="95250" anchor="ctr">
                    <a:solidFill>
                      <a:srgbClr val="E8EDE3"/>
                    </a:solidFill>
                  </a:tcPr>
                </a:tc>
              </a:tr>
              <a:tr h="668338">
                <a:tc>
                  <a:txBody>
                    <a:bodyPr>
                      <a:noAutofit/>
                    </a:bodyPr>
                    <a:lstStyle/>
                    <a:p>
                      <a:r>
                        <a:rPr sz="1725" b="0">
                          <a:solidFill>
                            <a:srgbClr val="1C302B"/>
                          </a:solidFill>
                          <a:latin typeface="Helvetica Neue"/>
                          <a:ea typeface="Helvetica Neue"/>
                          <a:cs typeface="Helvetica Neue"/>
                        </a:rPr>
                        <a:t>External tools</a:t>
                      </a:r>
                    </a:p>
                  </a:txBody>
                  <a:tcPr marL="152400" marR="152400" marT="114300" marB="95250" anchor="ctr">
                    <a:solidFill>
                      <a:srgbClr val="F4F1E7"/>
                    </a:solidFill>
                  </a:tcPr>
                </a:tc>
                <a:tc>
                  <a:txBody>
                    <a:bodyPr>
                      <a:noAutofit/>
                    </a:bodyPr>
                    <a:lstStyle/>
                    <a:p>
                      <a:r>
                        <a:rPr sz="1725" b="0">
                          <a:solidFill>
                            <a:srgbClr val="1C302B"/>
                          </a:solidFill>
                          <a:latin typeface="Helvetica Neue"/>
                          <a:ea typeface="Helvetica Neue"/>
                          <a:cs typeface="Helvetica Neue"/>
                        </a:rPr>
                        <a:t>Optional governed connectors</a:t>
                      </a:r>
                    </a:p>
                  </a:txBody>
                  <a:tcPr marL="152400" marR="152400" marT="114300" marB="95250" anchor="ctr">
                    <a:solidFill>
                      <a:srgbClr val="F4F1E7"/>
                    </a:solidFill>
                  </a:tcPr>
                </a:tc>
                <a:tc>
                  <a:txBody>
                    <a:bodyPr>
                      <a:noAutofit/>
                    </a:bodyPr>
                    <a:lstStyle/>
                    <a:p>
                      <a:r>
                        <a:rPr sz="1725" b="0">
                          <a:solidFill>
                            <a:srgbClr val="1C302B"/>
                          </a:solidFill>
                          <a:latin typeface="Helvetica Neue"/>
                          <a:ea typeface="Helvetica Neue"/>
                          <a:cs typeface="Helvetica Neue"/>
                        </a:rPr>
                        <a:t>No external writes</a:t>
                      </a:r>
                    </a:p>
                  </a:txBody>
                  <a:tcPr marL="152400" marR="152400" marT="114300" marB="95250" anchor="ctr">
                    <a:solidFill>
                      <a:srgbClr val="F4F1E7"/>
                    </a:solidFill>
                  </a:tcPr>
                </a:tc>
              </a:tr>
            </a:tbl>
          </a:graphicData>
        </a:graphic>
      </p:graphicFrame>
      <p:sp>
        <p:nvSpPr>
          <p:cNvPr id="4" name="">
            <a:extLst xmlns:a="http://schemas.openxmlformats.org/drawingml/2006/main">
              <a:ext uri="{FF2B5EF4-FFF2-40B4-BE49-F238E27FC236}">
                <a16:creationId xmlns:a16="http://schemas.microsoft.com/office/drawing/2014/main" id="{C1303C59-92B5-45B9-BCBA-89095B5737FE}"/>
              </a:ext>
            </a:extLst>
          </p:cNvPr>
          <p:cNvSpPr>
            <a:spLocks xmlns:a="http://schemas.openxmlformats.org/drawingml/2006/main" noGrp="1"/>
          </p:cNvSpPr>
          <p:nvPr/>
        </p:nvSpPr>
        <p:spPr>
          <a:xfrm xmlns:a="http://schemas.openxmlformats.org/drawingml/2006/main">
            <a:off x="619125" y="5857875"/>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1">
                <a:solidFill>
                  <a:srgbClr val="173F35"/>
                </a:solidFill>
                <a:latin typeface="Helvetica Neue"/>
                <a:ea typeface="Helvetica Neue"/>
                <a:cs typeface="Helvetica Neue"/>
              </a:defRPr>
            </a:pPr>
            <a:r>
              <a:rPr sz="1800" b="1">
                <a:solidFill>
                  <a:srgbClr val="173F35"/>
                </a:solidFill>
                <a:latin typeface="Helvetica Neue"/>
                <a:ea typeface="Helvetica Neue"/>
                <a:cs typeface="Helvetica Neue"/>
              </a:rPr>
              <a:t>Codex and Claude Code host the full experience.</a:t>
            </a:r>
          </a:p>
          <a:p xmlns:a="http://schemas.openxmlformats.org/drawingml/2006/main">
            <a:pPr>
              <a:defRPr sz="1800" b="1">
                <a:solidFill>
                  <a:srgbClr val="173F35"/>
                </a:solidFill>
                <a:latin typeface="Helvetica Neue"/>
                <a:ea typeface="Helvetica Neue"/>
                <a:cs typeface="Helvetica Neue"/>
              </a:defRPr>
            </a:pPr>
            <a:r>
              <a:rPr sz="1800" b="1">
                <a:solidFill>
                  <a:srgbClr val="173F35"/>
                </a:solidFill>
                <a:latin typeface="Helvetica Neue"/>
                <a:ea typeface="Helvetica Neue"/>
                <a:cs typeface="Helvetica Neue"/>
              </a:rPr>
              <a:t>Compatible MCP clients get selected knowledge.</a:t>
            </a:r>
          </a:p>
        </p:txBody>
      </p:sp>
    </p:spTree>
    <p:extLst>
      <p:ext uri="{BB962C8B-B14F-4D97-AF65-F5344CB8AC3E}">
        <p14:creationId xmlns:p14="http://schemas.microsoft.com/office/powerpoint/2010/main" val="1518289091"/>
      </p:ext>
    </p:extLst>
  </p:cSld>
</p:sld>
</file>

<file path=ppt/slides/slide8.xml><?xml version="1.0" encoding="utf-8"?>
<p:sld xmlns:p="http://schemas.openxmlformats.org/presentationml/2006/main">
  <p:cSld>
    <p:bg>
      <p:bgPr>
        <a:solidFill xmlns:a="http://schemas.openxmlformats.org/drawingml/2006/main">
          <a:srgbClr val="F4F1E7"/>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C45124-9766-4632-B1C6-87BD65A9F7EF}"/>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F35"/>
                </a:solidFill>
                <a:latin typeface="Helvetica Neue"/>
                <a:ea typeface="Helvetica Neue"/>
                <a:cs typeface="Helvetica Neue"/>
              </a:defRPr>
            </a:pPr>
            <a:r>
              <a:rPr sz="3450" b="1">
                <a:solidFill>
                  <a:srgbClr val="173F35"/>
                </a:solidFill>
                <a:latin typeface="Helvetica Neue"/>
                <a:ea typeface="Helvetica Neue"/>
                <a:cs typeface="Helvetica Neue"/>
              </a:rPr>
              <a:t>The optional MCP knowledge channel</a:t>
            </a:r>
          </a:p>
        </p:txBody>
      </p:sp>
      <p:sp>
        <p:nvSpPr>
          <p:cNvPr id="2" name="">
            <a:extLst xmlns:a="http://schemas.openxmlformats.org/drawingml/2006/main">
              <a:ext uri="{FF2B5EF4-FFF2-40B4-BE49-F238E27FC236}">
                <a16:creationId xmlns:a16="http://schemas.microsoft.com/office/drawing/2014/main" id="{BBF1B64E-1BF1-4BE8-9578-0E0975689501}"/>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56B"/>
                </a:solidFill>
                <a:latin typeface="Helvetica Neue"/>
                <a:ea typeface="Helvetica Neue"/>
                <a:cs typeface="Helvetica Neue"/>
              </a:defRPr>
            </a:pPr>
            <a:r>
              <a:rPr sz="1350" b="0">
                <a:solidFill>
                  <a:srgbClr val="66756B"/>
                </a:solidFill>
                <a:latin typeface="Helvetica Neue"/>
                <a:ea typeface="Helvetica Neue"/>
                <a:cs typeface="Helvetica Neue"/>
              </a:rPr>
              <a:t>08</a:t>
            </a:r>
          </a:p>
        </p:txBody>
      </p:sp>
      <p:sp>
        <p:nvSpPr>
          <p:cNvPr id="3" name="">
            <a:extLst xmlns:a="http://schemas.openxmlformats.org/drawingml/2006/main">
              <a:ext uri="{FF2B5EF4-FFF2-40B4-BE49-F238E27FC236}">
                <a16:creationId xmlns:a16="http://schemas.microsoft.com/office/drawing/2014/main" id="{E2F222D4-0E88-4291-A079-C0CE2E9F5957}"/>
              </a:ext>
            </a:extLst>
          </p:cNvPr>
          <p:cNvSpPr>
            <a:spLocks xmlns:a="http://schemas.openxmlformats.org/drawingml/2006/main" noGrp="1"/>
          </p:cNvSpPr>
          <p:nvPr/>
        </p:nvSpPr>
        <p:spPr>
          <a:xfrm xmlns:a="http://schemas.openxmlformats.org/drawingml/2006/main">
            <a:off x="619125" y="1552575"/>
            <a:ext cx="10763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75" b="1">
                <a:solidFill>
                  <a:srgbClr val="173F35"/>
                </a:solidFill>
                <a:latin typeface="Helvetica Neue"/>
                <a:ea typeface="Helvetica Neue"/>
                <a:cs typeface="Helvetica Neue"/>
              </a:defRPr>
            </a:pPr>
            <a:r>
              <a:rPr sz="2775" b="1">
                <a:solidFill>
                  <a:srgbClr val="173F35"/>
                </a:solidFill>
                <a:latin typeface="Helvetica Neue"/>
                <a:ea typeface="Helvetica Neue"/>
                <a:cs typeface="Helvetica Neue"/>
              </a:rPr>
              <a:t>28 methods     10 templates     11 prompts</a:t>
            </a:r>
          </a:p>
        </p:txBody>
      </p:sp>
      <p:graphicFrame>
        <p:nvGraphicFramePr>
          <p:cNvPr id="10" name=""/>
          <p:cNvGraphicFramePr/>
          <p:nvPr/>
        </p:nvGraphicFramePr>
        <p:xfrm>
          <a:off xmlns:a="http://schemas.openxmlformats.org/drawingml/2006/main" x="609600" y="2457450"/>
          <a:ext xmlns:a="http://schemas.openxmlformats.org/drawingml/2006/main" cx="10972800" cy="2514600"/>
        </p:xfrm>
        <a:graphic xmlns:a="http://schemas.openxmlformats.org/drawingml/2006/main">
          <a:graphicData uri="http://schemas.openxmlformats.org/drawingml/2006/table">
            <a:tbl>
              <a:tblPr/>
              <a:tblGrid>
                <a:gridCol w="4476750"/>
                <a:gridCol w="6496050"/>
              </a:tblGrid>
              <a:tr h="628650">
                <a:tc>
                  <a:txBody>
                    <a:bodyPr>
                      <a:noAutofit/>
                    </a:bodyPr>
                    <a:lstStyle/>
                    <a:p>
                      <a:r>
                        <a:rPr sz="1875" b="1">
                          <a:solidFill>
                            <a:srgbClr val="F4F1E7"/>
                          </a:solidFill>
                          <a:latin typeface="Helvetica Neue"/>
                          <a:ea typeface="Helvetica Neue"/>
                          <a:cs typeface="Helvetica Neue"/>
                        </a:rPr>
                        <a:t>Read-only tool</a:t>
                      </a:r>
                    </a:p>
                  </a:txBody>
                  <a:tcPr marL="152400" marR="152400" marT="114300" marB="95250" anchor="ctr">
                    <a:solidFill>
                      <a:srgbClr val="173F35"/>
                    </a:solidFill>
                  </a:tcPr>
                </a:tc>
                <a:tc>
                  <a:txBody>
                    <a:bodyPr>
                      <a:noAutofit/>
                    </a:bodyPr>
                    <a:lstStyle/>
                    <a:p>
                      <a:r>
                        <a:rPr sz="1875" b="1">
                          <a:solidFill>
                            <a:srgbClr val="F4F1E7"/>
                          </a:solidFill>
                          <a:latin typeface="Helvetica Neue"/>
                          <a:ea typeface="Helvetica Neue"/>
                          <a:cs typeface="Helvetica Neue"/>
                        </a:rPr>
                        <a:t>What it returns</a:t>
                      </a:r>
                    </a:p>
                  </a:txBody>
                  <a:tcPr marL="152400" marR="152400" marT="114300" marB="95250" anchor="ctr">
                    <a:solidFill>
                      <a:srgbClr val="173F35"/>
                    </a:solidFill>
                  </a:tcPr>
                </a:tc>
              </a:tr>
              <a:tr h="628650">
                <a:tc>
                  <a:txBody>
                    <a:bodyPr>
                      <a:noAutofit/>
                    </a:bodyPr>
                    <a:lstStyle/>
                    <a:p>
                      <a:r>
                        <a:rPr sz="1875" b="0">
                          <a:solidFill>
                            <a:srgbClr val="1C302B"/>
                          </a:solidFill>
                          <a:latin typeface="Helvetica Neue"/>
                          <a:ea typeface="Helvetica Neue"/>
                          <a:cs typeface="Helvetica Neue"/>
                        </a:rPr>
                        <a:t>greatpm_list_methods</a:t>
                      </a:r>
                    </a:p>
                  </a:txBody>
                  <a:tcPr marL="152400" marR="152400" marT="114300" marB="95250" anchor="ctr">
                    <a:solidFill>
                      <a:srgbClr val="F4F1E7"/>
                    </a:solidFill>
                  </a:tcPr>
                </a:tc>
                <a:tc>
                  <a:txBody>
                    <a:bodyPr>
                      <a:noAutofit/>
                    </a:bodyPr>
                    <a:lstStyle/>
                    <a:p>
                      <a:r>
                        <a:rPr sz="1875" b="0">
                          <a:solidFill>
                            <a:srgbClr val="1C302B"/>
                          </a:solidFill>
                          <a:latin typeface="Helvetica Neue"/>
                          <a:ea typeface="Helvetica Neue"/>
                          <a:cs typeface="Helvetica Neue"/>
                        </a:rPr>
                        <a:t>Searchable method metadata</a:t>
                      </a:r>
                    </a:p>
                  </a:txBody>
                  <a:tcPr marL="152400" marR="152400" marT="114300" marB="95250" anchor="ctr">
                    <a:solidFill>
                      <a:srgbClr val="F4F1E7"/>
                    </a:solidFill>
                  </a:tcPr>
                </a:tc>
              </a:tr>
              <a:tr h="628650">
                <a:tc>
                  <a:txBody>
                    <a:bodyPr>
                      <a:noAutofit/>
                    </a:bodyPr>
                    <a:lstStyle/>
                    <a:p>
                      <a:r>
                        <a:rPr sz="1875" b="0">
                          <a:solidFill>
                            <a:srgbClr val="1C302B"/>
                          </a:solidFill>
                          <a:latin typeface="Helvetica Neue"/>
                          <a:ea typeface="Helvetica Neue"/>
                          <a:cs typeface="Helvetica Neue"/>
                        </a:rPr>
                        <a:t>greatpm_get_method</a:t>
                      </a:r>
                    </a:p>
                  </a:txBody>
                  <a:tcPr marL="152400" marR="152400" marT="114300" marB="95250" anchor="ctr">
                    <a:solidFill>
                      <a:srgbClr val="E8EDE3"/>
                    </a:solidFill>
                  </a:tcPr>
                </a:tc>
                <a:tc>
                  <a:txBody>
                    <a:bodyPr>
                      <a:noAutofit/>
                    </a:bodyPr>
                    <a:lstStyle/>
                    <a:p>
                      <a:r>
                        <a:rPr sz="1875" b="0">
                          <a:solidFill>
                            <a:srgbClr val="1C302B"/>
                          </a:solidFill>
                          <a:latin typeface="Helvetica Neue"/>
                          <a:ea typeface="Helvetica Neue"/>
                          <a:cs typeface="Helvetica Neue"/>
                        </a:rPr>
                        <a:t>Complete guidance for one method</a:t>
                      </a:r>
                    </a:p>
                  </a:txBody>
                  <a:tcPr marL="152400" marR="152400" marT="114300" marB="95250" anchor="ctr">
                    <a:solidFill>
                      <a:srgbClr val="E8EDE3"/>
                    </a:solidFill>
                  </a:tcPr>
                </a:tc>
              </a:tr>
              <a:tr h="628650">
                <a:tc>
                  <a:txBody>
                    <a:bodyPr>
                      <a:noAutofit/>
                    </a:bodyPr>
                    <a:lstStyle/>
                    <a:p>
                      <a:r>
                        <a:rPr sz="1875" b="0">
                          <a:solidFill>
                            <a:srgbClr val="1C302B"/>
                          </a:solidFill>
                          <a:latin typeface="Helvetica Neue"/>
                          <a:ea typeface="Helvetica Neue"/>
                          <a:cs typeface="Helvetica Neue"/>
                        </a:rPr>
                        <a:t>greatpm_prepare_workflow</a:t>
                      </a:r>
                    </a:p>
                  </a:txBody>
                  <a:tcPr marL="152400" marR="152400" marT="114300" marB="95250" anchor="ctr">
                    <a:solidFill>
                      <a:srgbClr val="F4F1E7"/>
                    </a:solidFill>
                  </a:tcPr>
                </a:tc>
                <a:tc>
                  <a:txBody>
                    <a:bodyPr>
                      <a:noAutofit/>
                    </a:bodyPr>
                    <a:lstStyle/>
                    <a:p>
                      <a:r>
                        <a:rPr sz="1875" b="0">
                          <a:solidFill>
                            <a:srgbClr val="1C302B"/>
                          </a:solidFill>
                          <a:latin typeface="Helvetica Neue"/>
                          <a:ea typeface="Helvetica Neue"/>
                          <a:cs typeface="Helvetica Neue"/>
                        </a:rPr>
                        <a:t>A plan with methods, artifacts and human gates</a:t>
                      </a:r>
                    </a:p>
                  </a:txBody>
                  <a:tcPr marL="152400" marR="152400" marT="114300" marB="95250" anchor="ctr">
                    <a:solidFill>
                      <a:srgbClr val="F4F1E7"/>
                    </a:solidFill>
                  </a:tcPr>
                </a:tc>
              </a:tr>
            </a:tbl>
          </a:graphicData>
        </a:graphic>
      </p:graphicFrame>
      <p:sp>
        <p:nvSpPr>
          <p:cNvPr id="5" name="">
            <a:extLst xmlns:a="http://schemas.openxmlformats.org/drawingml/2006/main">
              <a:ext uri="{FF2B5EF4-FFF2-40B4-BE49-F238E27FC236}">
                <a16:creationId xmlns:a16="http://schemas.microsoft.com/office/drawing/2014/main" id="{C8D4B8DA-0DB1-4BC7-A05B-EA5629916916}"/>
              </a:ext>
            </a:extLst>
          </p:cNvPr>
          <p:cNvSpPr>
            <a:spLocks xmlns:a="http://schemas.openxmlformats.org/drawingml/2006/main" noGrp="1"/>
          </p:cNvSpPr>
          <p:nvPr/>
        </p:nvSpPr>
        <p:spPr>
          <a:xfrm xmlns:a="http://schemas.openxmlformats.org/drawingml/2006/main">
            <a:off x="619125" y="53435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F35"/>
                </a:solidFill>
                <a:latin typeface="Helvetica Neue"/>
                <a:ea typeface="Helvetica Neue"/>
                <a:cs typeface="Helvetica Neue"/>
              </a:defRPr>
            </a:pPr>
            <a:r>
              <a:rPr sz="2100" b="1">
                <a:solidFill>
                  <a:srgbClr val="173F35"/>
                </a:solidFill>
                <a:latin typeface="Helvetica Neue"/>
                <a:ea typeface="Helvetica Neue"/>
                <a:cs typeface="Helvetica Neue"/>
              </a:rPr>
              <a:t>MCP prepares the workflow. It does not execute or approve it.</a:t>
            </a:r>
          </a:p>
        </p:txBody>
      </p:sp>
      <p:sp>
        <p:nvSpPr>
          <p:cNvPr id="6" name="">
            <a:extLst xmlns:a="http://schemas.openxmlformats.org/drawingml/2006/main">
              <a:ext uri="{FF2B5EF4-FFF2-40B4-BE49-F238E27FC236}">
                <a16:creationId xmlns:a16="http://schemas.microsoft.com/office/drawing/2014/main" id="{3033B77C-BE20-4653-A8C2-642D59D3DEF1}"/>
              </a:ext>
            </a:extLst>
          </p:cNvPr>
          <p:cNvSpPr>
            <a:spLocks xmlns:a="http://schemas.openxmlformats.org/drawingml/2006/main" noGrp="1"/>
          </p:cNvSpPr>
          <p:nvPr/>
        </p:nvSpPr>
        <p:spPr>
          <a:xfrm xmlns:a="http://schemas.openxmlformats.org/drawingml/2006/main">
            <a:off x="619125" y="5962650"/>
            <a:ext cx="10668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66756B"/>
                </a:solidFill>
                <a:latin typeface="Helvetica Neue"/>
                <a:ea typeface="Helvetica Neue"/>
                <a:cs typeface="Helvetica Neue"/>
              </a:defRPr>
            </a:pPr>
            <a:r>
              <a:rPr sz="1725" b="0">
                <a:solidFill>
                  <a:srgbClr val="66756B"/>
                </a:solidFill>
                <a:latin typeface="Helvetica Neue"/>
                <a:ea typeface="Helvetica Neue"/>
                <a:cs typeface="Helvetica Neue"/>
              </a:rPr>
              <a:t>Implementation prepared. Hosting is outside this submission.</a:t>
            </a:r>
          </a:p>
        </p:txBody>
      </p:sp>
    </p:spTree>
    <p:extLst>
      <p:ext uri="{BB962C8B-B14F-4D97-AF65-F5344CB8AC3E}">
        <p14:creationId xmlns:p14="http://schemas.microsoft.com/office/powerpoint/2010/main" val="39565533"/>
      </p:ext>
    </p:extLst>
  </p:cSld>
</p:sld>
</file>

<file path=ppt/slides/slide9.xml><?xml version="1.0" encoding="utf-8"?>
<p:sld xmlns:p="http://schemas.openxmlformats.org/presentationml/2006/main">
  <p:cSld>
    <p:bg>
      <p:bgPr>
        <a:solidFill xmlns:a="http://schemas.openxmlformats.org/drawingml/2006/main">
          <a:srgbClr val="F4F1E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9F406F13-66F1-4405-8A48-AAC96F8C0147}"/>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F35"/>
                </a:solidFill>
                <a:latin typeface="Helvetica Neue"/>
                <a:ea typeface="Helvetica Neue"/>
                <a:cs typeface="Helvetica Neue"/>
              </a:defRPr>
            </a:pPr>
            <a:r>
              <a:rPr sz="3450" b="1">
                <a:solidFill>
                  <a:srgbClr val="173F35"/>
                </a:solidFill>
                <a:latin typeface="Helvetica Neue"/>
                <a:ea typeface="Helvetica Neue"/>
                <a:cs typeface="Helvetica Neue"/>
              </a:rPr>
              <a:t>How I built GreatPM</a:t>
            </a:r>
          </a:p>
        </p:txBody>
      </p:sp>
      <p:sp>
        <p:nvSpPr>
          <p:cNvPr id="2" name="">
            <a:extLst xmlns:a="http://schemas.openxmlformats.org/drawingml/2006/main">
              <a:ext uri="{FF2B5EF4-FFF2-40B4-BE49-F238E27FC236}">
                <a16:creationId xmlns:a16="http://schemas.microsoft.com/office/drawing/2014/main" id="{873D8182-9724-4624-B17C-6A58B6CA8824}"/>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56B"/>
                </a:solidFill>
                <a:latin typeface="Helvetica Neue"/>
                <a:ea typeface="Helvetica Neue"/>
                <a:cs typeface="Helvetica Neue"/>
              </a:defRPr>
            </a:pPr>
            <a:r>
              <a:rPr sz="1350" b="0">
                <a:solidFill>
                  <a:srgbClr val="66756B"/>
                </a:solidFill>
                <a:latin typeface="Helvetica Neue"/>
                <a:ea typeface="Helvetica Neue"/>
                <a:cs typeface="Helvetica Neue"/>
              </a:rPr>
              <a:t>09</a:t>
            </a:r>
          </a:p>
        </p:txBody>
      </p:sp>
      <p:graphicFrame>
        <p:nvGraphicFramePr>
          <p:cNvPr id="8" name=""/>
          <p:cNvGraphicFramePr/>
          <p:nvPr/>
        </p:nvGraphicFramePr>
        <p:xfrm>
          <a:off xmlns:a="http://schemas.openxmlformats.org/drawingml/2006/main" x="609600" y="1666875"/>
          <a:ext xmlns:a="http://schemas.openxmlformats.org/drawingml/2006/main" cx="10972800" cy="3314700"/>
        </p:xfrm>
        <a:graphic xmlns:a="http://schemas.openxmlformats.org/drawingml/2006/main">
          <a:graphicData uri="http://schemas.openxmlformats.org/drawingml/2006/table">
            <a:tbl>
              <a:tblPr/>
              <a:tblGrid>
                <a:gridCol w="2524125"/>
                <a:gridCol w="8448675"/>
              </a:tblGrid>
              <a:tr h="828675">
                <a:tc>
                  <a:txBody>
                    <a:bodyPr>
                      <a:noAutofit/>
                    </a:bodyPr>
                    <a:lstStyle/>
                    <a:p>
                      <a:r>
                        <a:rPr sz="1875" b="1">
                          <a:solidFill>
                            <a:srgbClr val="F4F1E7"/>
                          </a:solidFill>
                          <a:latin typeface="Helvetica Neue"/>
                          <a:ea typeface="Helvetica Neue"/>
                          <a:cs typeface="Helvetica Neue"/>
                        </a:rPr>
                        <a:t>Layer</a:t>
                      </a:r>
                    </a:p>
                  </a:txBody>
                  <a:tcPr marL="152400" marR="152400" marT="114300" marB="95250" anchor="ctr">
                    <a:solidFill>
                      <a:srgbClr val="173F35"/>
                    </a:solidFill>
                  </a:tcPr>
                </a:tc>
                <a:tc>
                  <a:txBody>
                    <a:bodyPr>
                      <a:noAutofit/>
                    </a:bodyPr>
                    <a:lstStyle/>
                    <a:p>
                      <a:r>
                        <a:rPr sz="1875" b="1">
                          <a:solidFill>
                            <a:srgbClr val="F4F1E7"/>
                          </a:solidFill>
                          <a:latin typeface="Helvetica Neue"/>
                          <a:ea typeface="Helvetica Neue"/>
                          <a:cs typeface="Helvetica Neue"/>
                        </a:rPr>
                        <a:t>Build approach</a:t>
                      </a:r>
                    </a:p>
                  </a:txBody>
                  <a:tcPr marL="152400" marR="152400" marT="114300" marB="95250" anchor="ctr">
                    <a:solidFill>
                      <a:srgbClr val="173F35"/>
                    </a:solidFill>
                  </a:tcPr>
                </a:tc>
              </a:tr>
              <a:tr h="828675">
                <a:tc>
                  <a:txBody>
                    <a:bodyPr>
                      <a:noAutofit/>
                    </a:bodyPr>
                    <a:lstStyle/>
                    <a:p>
                      <a:r>
                        <a:rPr sz="1875" b="0">
                          <a:solidFill>
                            <a:srgbClr val="1C302B"/>
                          </a:solidFill>
                          <a:latin typeface="Helvetica Neue"/>
                          <a:ea typeface="Helvetica Neue"/>
                          <a:cs typeface="Helvetica Neue"/>
                        </a:rPr>
                        <a:t>Product system</a:t>
                      </a:r>
                    </a:p>
                  </a:txBody>
                  <a:tcPr marL="152400" marR="152400" marT="114300" marB="95250" anchor="ctr">
                    <a:solidFill>
                      <a:srgbClr val="F4F1E7"/>
                    </a:solidFill>
                  </a:tcPr>
                </a:tc>
                <a:tc>
                  <a:txBody>
                    <a:bodyPr>
                      <a:noAutofit/>
                    </a:bodyPr>
                    <a:lstStyle/>
                    <a:p>
                      <a:r>
                        <a:rPr sz="1875" b="0">
                          <a:solidFill>
                            <a:srgbClr val="1C302B"/>
                          </a:solidFill>
                          <a:latin typeface="Helvetica Neue"/>
                          <a:ea typeface="Helvetica Neue"/>
                          <a:cs typeface="Helvetica Neue"/>
                        </a:rPr>
                        <a:t>Adapted the foundation to the six-stage PM loop,</a:t>
                      </a:r>
                    </a:p>
                    <a:p>
                      <a:r>
                        <a:rPr sz="1875" b="0">
                          <a:solidFill>
                            <a:srgbClr val="1C302B"/>
                          </a:solidFill>
                          <a:latin typeface="Helvetica Neue"/>
                          <a:ea typeface="Helvetica Neue"/>
                          <a:cs typeface="Helvetica Neue"/>
                        </a:rPr>
                        <a:t>PM specialists, product methods and human gates</a:t>
                      </a:r>
                    </a:p>
                  </a:txBody>
                  <a:tcPr marL="152400" marR="152400" marT="114300" marB="95250" anchor="ctr">
                    <a:solidFill>
                      <a:srgbClr val="F4F1E7"/>
                    </a:solidFill>
                  </a:tcPr>
                </a:tc>
              </a:tr>
              <a:tr h="828675">
                <a:tc>
                  <a:txBody>
                    <a:bodyPr>
                      <a:noAutofit/>
                    </a:bodyPr>
                    <a:lstStyle/>
                    <a:p>
                      <a:r>
                        <a:rPr sz="1875" b="0">
                          <a:solidFill>
                            <a:srgbClr val="1C302B"/>
                          </a:solidFill>
                          <a:latin typeface="Helvetica Neue"/>
                          <a:ea typeface="Helvetica Neue"/>
                          <a:cs typeface="Helvetica Neue"/>
                        </a:rPr>
                        <a:t>Native hosts</a:t>
                      </a:r>
                    </a:p>
                  </a:txBody>
                  <a:tcPr marL="152400" marR="152400" marT="114300" marB="95250" anchor="ctr">
                    <a:solidFill>
                      <a:srgbClr val="E8EDE3"/>
                    </a:solidFill>
                  </a:tcPr>
                </a:tc>
                <a:tc>
                  <a:txBody>
                    <a:bodyPr>
                      <a:noAutofit/>
                    </a:bodyPr>
                    <a:lstStyle/>
                    <a:p>
                      <a:r>
                        <a:rPr sz="1875" b="0">
                          <a:solidFill>
                            <a:srgbClr val="1C302B"/>
                          </a:solidFill>
                          <a:latin typeface="Helvetica Neue"/>
                          <a:ea typeface="Helvetica Neue"/>
                          <a:cs typeface="Helvetica Neue"/>
                        </a:rPr>
                        <a:t>Kept canonical Claude Code content. Generated a</a:t>
                      </a:r>
                    </a:p>
                    <a:p>
                      <a:r>
                        <a:rPr sz="1875" b="0">
                          <a:solidFill>
                            <a:srgbClr val="1C302B"/>
                          </a:solidFill>
                          <a:latin typeface="Helvetica Neue"/>
                          <a:ea typeface="Helvetica Neue"/>
                          <a:cs typeface="Helvetica Neue"/>
                        </a:rPr>
                        <a:t>Codex package with compatible role identifiers and files</a:t>
                      </a:r>
                    </a:p>
                  </a:txBody>
                  <a:tcPr marL="152400" marR="152400" marT="114300" marB="95250" anchor="ctr">
                    <a:solidFill>
                      <a:srgbClr val="E8EDE3"/>
                    </a:solidFill>
                  </a:tcPr>
                </a:tc>
              </a:tr>
              <a:tr h="828675">
                <a:tc>
                  <a:txBody>
                    <a:bodyPr>
                      <a:noAutofit/>
                    </a:bodyPr>
                    <a:lstStyle/>
                    <a:p>
                      <a:r>
                        <a:rPr sz="1875" b="0">
                          <a:solidFill>
                            <a:srgbClr val="1C302B"/>
                          </a:solidFill>
                          <a:latin typeface="Helvetica Neue"/>
                          <a:ea typeface="Helvetica Neue"/>
                          <a:cs typeface="Helvetica Neue"/>
                        </a:rPr>
                        <a:t>Knowledge channel</a:t>
                      </a:r>
                    </a:p>
                  </a:txBody>
                  <a:tcPr marL="152400" marR="152400" marT="114300" marB="95250" anchor="ctr">
                    <a:solidFill>
                      <a:srgbClr val="F4F1E7"/>
                    </a:solidFill>
                  </a:tcPr>
                </a:tc>
                <a:tc>
                  <a:txBody>
                    <a:bodyPr>
                      <a:noAutofit/>
                    </a:bodyPr>
                    <a:lstStyle/>
                    <a:p>
                      <a:r>
                        <a:rPr sz="1875" b="0">
                          <a:solidFill>
                            <a:srgbClr val="1C302B"/>
                          </a:solidFill>
                          <a:latin typeface="Helvetica Neue"/>
                          <a:ea typeface="Helvetica Neue"/>
                          <a:cs typeface="Helvetica Neue"/>
                        </a:rPr>
                        <a:t>Added a TypeScript MCP service over Streamable HTTP</a:t>
                      </a:r>
                    </a:p>
                    <a:p>
                      <a:r>
                        <a:rPr sz="1875" b="0">
                          <a:solidFill>
                            <a:srgbClr val="1C302B"/>
                          </a:solidFill>
                          <a:latin typeface="Helvetica Neue"/>
                          <a:ea typeface="Helvetica Neue"/>
                          <a:cs typeface="Helvetica Neue"/>
                        </a:rPr>
                        <a:t>with curated static methods, templates and prompts</a:t>
                      </a:r>
                    </a:p>
                  </a:txBody>
                  <a:tcPr marL="152400" marR="152400" marT="114300" marB="95250" anchor="ctr">
                    <a:solidFill>
                      <a:srgbClr val="F4F1E7"/>
                    </a:solidFill>
                  </a:tcPr>
                </a:tc>
              </a:tr>
            </a:tbl>
          </a:graphicData>
        </a:graphic>
      </p:graphicFrame>
      <p:sp>
        <p:nvSpPr>
          <p:cNvPr id="4" name="">
            <a:extLst xmlns:a="http://schemas.openxmlformats.org/drawingml/2006/main">
              <a:ext uri="{FF2B5EF4-FFF2-40B4-BE49-F238E27FC236}">
                <a16:creationId xmlns:a16="http://schemas.microsoft.com/office/drawing/2014/main" id="{F3DEBF87-DE1C-4825-B23E-65A31E8F1638}"/>
              </a:ext>
            </a:extLst>
          </p:cNvPr>
          <p:cNvSpPr>
            <a:spLocks xmlns:a="http://schemas.openxmlformats.org/drawingml/2006/main" noGrp="1"/>
          </p:cNvSpPr>
          <p:nvPr/>
        </p:nvSpPr>
        <p:spPr>
          <a:xfrm xmlns:a="http://schemas.openxmlformats.org/drawingml/2006/main">
            <a:off x="619125" y="53149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73F35"/>
                </a:solidFill>
                <a:latin typeface="Helvetica Neue"/>
                <a:ea typeface="Helvetica Neue"/>
                <a:cs typeface="Helvetica Neue"/>
              </a:defRPr>
            </a:pPr>
            <a:r>
              <a:rPr sz="2100" b="1">
                <a:solidFill>
                  <a:srgbClr val="173F35"/>
                </a:solidFill>
                <a:latin typeface="Helvetica Neue"/>
                <a:ea typeface="Helvetica Neue"/>
                <a:cs typeface="Helvetica Neue"/>
              </a:rPr>
              <a:t>Built on the MIT-licensed great_cto foundation</a:t>
            </a:r>
          </a:p>
        </p:txBody>
      </p:sp>
      <p:sp>
        <p:nvSpPr>
          <p:cNvPr id="5" name="">
            <a:extLst xmlns:a="http://schemas.openxmlformats.org/drawingml/2006/main">
              <a:ext uri="{FF2B5EF4-FFF2-40B4-BE49-F238E27FC236}">
                <a16:creationId xmlns:a16="http://schemas.microsoft.com/office/drawing/2014/main" id="{07ABAEFA-B73C-4212-AF6C-928CFD612DF5}"/>
              </a:ext>
            </a:extLst>
          </p:cNvPr>
          <p:cNvSpPr>
            <a:spLocks xmlns:a="http://schemas.openxmlformats.org/drawingml/2006/main" noGrp="1"/>
          </p:cNvSpPr>
          <p:nvPr/>
        </p:nvSpPr>
        <p:spPr>
          <a:xfrm xmlns:a="http://schemas.openxmlformats.org/drawingml/2006/main">
            <a:off x="619125" y="5895975"/>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6756B"/>
                </a:solidFill>
                <a:latin typeface="Helvetica Neue"/>
                <a:ea typeface="Helvetica Neue"/>
                <a:cs typeface="Helvetica Neue"/>
              </a:defRPr>
            </a:pPr>
            <a:r>
              <a:rPr sz="1800" b="0">
                <a:solidFill>
                  <a:srgbClr val="66756B"/>
                </a:solidFill>
                <a:latin typeface="Helvetica Neue"/>
                <a:ea typeface="Helvetica Neue"/>
                <a:cs typeface="Helvetica Neue"/>
              </a:rPr>
              <a:t>Versioned source and native package v1.1.6 on GitHub</a:t>
            </a:r>
          </a:p>
        </p:txBody>
      </p:sp>
    </p:spTree>
    <p:extLst>
      <p:ext uri="{BB962C8B-B14F-4D97-AF65-F5344CB8AC3E}">
        <p14:creationId xmlns:p14="http://schemas.microsoft.com/office/powerpoint/2010/main" val="1437008410"/>
      </p:ext>
    </p:extLst>
  </p:cSld>
</p:sld>
</file>

<file path=ppt/slides/slide10.xml><?xml version="1.0" encoding="utf-8"?>
<p:sld xmlns:p="http://schemas.openxmlformats.org/presentationml/2006/main">
  <p:cSld>
    <p:bg>
      <p:bgPr>
        <a:solidFill xmlns:a="http://schemas.openxmlformats.org/drawingml/2006/main">
          <a:srgbClr val="173F35"/>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37AE1E50-CB16-4677-B942-80AB92D90336}"/>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4F1E7"/>
                </a:solidFill>
                <a:latin typeface="Helvetica Neue"/>
                <a:ea typeface="Helvetica Neue"/>
                <a:cs typeface="Helvetica Neue"/>
              </a:defRPr>
            </a:pPr>
            <a:r>
              <a:rPr sz="3450" b="1">
                <a:solidFill>
                  <a:srgbClr val="F4F1E7"/>
                </a:solidFill>
                <a:latin typeface="Helvetica Neue"/>
                <a:ea typeface="Helvetica Neue"/>
                <a:cs typeface="Helvetica Neue"/>
              </a:rPr>
              <a:t>Data boundaries and operating limits</a:t>
            </a:r>
          </a:p>
        </p:txBody>
      </p:sp>
      <p:sp>
        <p:nvSpPr>
          <p:cNvPr id="2" name="">
            <a:extLst xmlns:a="http://schemas.openxmlformats.org/drawingml/2006/main">
              <a:ext uri="{FF2B5EF4-FFF2-40B4-BE49-F238E27FC236}">
                <a16:creationId xmlns:a16="http://schemas.microsoft.com/office/drawing/2014/main" id="{80E9A927-F5A1-4F3A-8BCE-C060B45AD59E}"/>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D8E5DA"/>
                </a:solidFill>
                <a:latin typeface="Helvetica Neue"/>
                <a:ea typeface="Helvetica Neue"/>
                <a:cs typeface="Helvetica Neue"/>
              </a:defRPr>
            </a:pPr>
            <a:r>
              <a:rPr sz="1350" b="0">
                <a:solidFill>
                  <a:srgbClr val="D8E5DA"/>
                </a:solidFill>
                <a:latin typeface="Helvetica Neue"/>
                <a:ea typeface="Helvetica Neue"/>
                <a:cs typeface="Helvetica Neue"/>
              </a:rPr>
              <a:t>10</a:t>
            </a:r>
          </a:p>
        </p:txBody>
      </p:sp>
      <p:sp>
        <p:nvSpPr>
          <p:cNvPr id="3" name="">
            <a:extLst xmlns:a="http://schemas.openxmlformats.org/drawingml/2006/main">
              <a:ext uri="{FF2B5EF4-FFF2-40B4-BE49-F238E27FC236}">
                <a16:creationId xmlns:a16="http://schemas.microsoft.com/office/drawing/2014/main" id="{ABE70E8B-65C5-4C46-8470-8DEC790A260F}"/>
              </a:ext>
            </a:extLst>
          </p:cNvPr>
          <p:cNvSpPr>
            <a:spLocks xmlns:a="http://schemas.openxmlformats.org/drawingml/2006/main" noGrp="1"/>
          </p:cNvSpPr>
          <p:nvPr/>
        </p:nvSpPr>
        <p:spPr>
          <a:xfrm xmlns:a="http://schemas.openxmlformats.org/drawingml/2006/main">
            <a:off x="619125" y="1628775"/>
            <a:ext cx="5029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4F1E7"/>
                </a:solidFill>
                <a:latin typeface="Helvetica Neue"/>
                <a:ea typeface="Helvetica Neue"/>
                <a:cs typeface="Helvetica Neue"/>
              </a:defRPr>
            </a:pPr>
            <a:r>
              <a:rPr sz="2175" b="1">
                <a:solidFill>
                  <a:srgbClr val="F4F1E7"/>
                </a:solidFill>
                <a:latin typeface="Helvetica Neue"/>
                <a:ea typeface="Helvetica Neue"/>
                <a:cs typeface="Helvetica Neue"/>
              </a:rPr>
              <a:t>Native experience</a:t>
            </a:r>
          </a:p>
        </p:txBody>
      </p:sp>
      <p:sp>
        <p:nvSpPr>
          <p:cNvPr id="4" name="">
            <a:extLst xmlns:a="http://schemas.openxmlformats.org/drawingml/2006/main">
              <a:ext uri="{FF2B5EF4-FFF2-40B4-BE49-F238E27FC236}">
                <a16:creationId xmlns:a16="http://schemas.microsoft.com/office/drawing/2014/main" id="{A6B4692C-85BC-4D69-8005-21C317A05E2B}"/>
              </a:ext>
            </a:extLst>
          </p:cNvPr>
          <p:cNvSpPr>
            <a:spLocks xmlns:a="http://schemas.openxmlformats.org/drawingml/2006/main" noGrp="1"/>
          </p:cNvSpPr>
          <p:nvPr/>
        </p:nvSpPr>
        <p:spPr>
          <a:xfrm xmlns:a="http://schemas.openxmlformats.org/drawingml/2006/main">
            <a:off x="619125" y="2181225"/>
            <a:ext cx="50292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8E5DA"/>
                </a:solidFill>
                <a:latin typeface="Helvetica Neue"/>
                <a:ea typeface="Helvetica Neue"/>
                <a:cs typeface="Helvetica Neue"/>
              </a:defRPr>
            </a:pPr>
            <a:r>
              <a:rPr sz="2025" b="0">
                <a:solidFill>
                  <a:srgbClr val="D8E5DA"/>
                </a:solidFill>
                <a:latin typeface="Helvetica Neue"/>
                <a:ea typeface="Helvetica Neue"/>
                <a:cs typeface="Helvetica Neue"/>
              </a:rPr>
              <a:t>The host works with local .great-pm files. Optional connectors require configuration and governance.</a:t>
            </a:r>
          </a:p>
        </p:txBody>
      </p:sp>
      <p:sp>
        <p:nvSpPr>
          <p:cNvPr id="5" name="">
            <a:extLst xmlns:a="http://schemas.openxmlformats.org/drawingml/2006/main">
              <a:ext uri="{FF2B5EF4-FFF2-40B4-BE49-F238E27FC236}">
                <a16:creationId xmlns:a16="http://schemas.microsoft.com/office/drawing/2014/main" id="{A8E14CD8-BC95-480A-8C6C-D2F8BB444CD8}"/>
              </a:ext>
            </a:extLst>
          </p:cNvPr>
          <p:cNvSpPr>
            <a:spLocks xmlns:a="http://schemas.openxmlformats.org/drawingml/2006/main" noGrp="1"/>
          </p:cNvSpPr>
          <p:nvPr/>
        </p:nvSpPr>
        <p:spPr>
          <a:xfrm xmlns:a="http://schemas.openxmlformats.org/drawingml/2006/main">
            <a:off x="6238875" y="1628775"/>
            <a:ext cx="528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4F1E7"/>
                </a:solidFill>
                <a:latin typeface="Helvetica Neue"/>
                <a:ea typeface="Helvetica Neue"/>
                <a:cs typeface="Helvetica Neue"/>
              </a:defRPr>
            </a:pPr>
            <a:r>
              <a:rPr sz="2175" b="1">
                <a:solidFill>
                  <a:srgbClr val="F4F1E7"/>
                </a:solidFill>
                <a:latin typeface="Helvetica Neue"/>
                <a:ea typeface="Helvetica Neue"/>
                <a:cs typeface="Helvetica Neue"/>
              </a:rPr>
              <a:t>Public MCP boundary</a:t>
            </a:r>
          </a:p>
        </p:txBody>
      </p:sp>
      <p:sp>
        <p:nvSpPr>
          <p:cNvPr id="6" name="">
            <a:extLst xmlns:a="http://schemas.openxmlformats.org/drawingml/2006/main">
              <a:ext uri="{FF2B5EF4-FFF2-40B4-BE49-F238E27FC236}">
                <a16:creationId xmlns:a16="http://schemas.microsoft.com/office/drawing/2014/main" id="{88BB7528-0D40-406A-B9AF-BCA31FF50FB7}"/>
              </a:ext>
            </a:extLst>
          </p:cNvPr>
          <p:cNvSpPr>
            <a:spLocks xmlns:a="http://schemas.openxmlformats.org/drawingml/2006/main" noGrp="1"/>
          </p:cNvSpPr>
          <p:nvPr/>
        </p:nvSpPr>
        <p:spPr>
          <a:xfrm xmlns:a="http://schemas.openxmlformats.org/drawingml/2006/main">
            <a:off x="6238875" y="2181225"/>
            <a:ext cx="52863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8E5DA"/>
                </a:solidFill>
                <a:latin typeface="Helvetica Neue"/>
                <a:ea typeface="Helvetica Neue"/>
                <a:cs typeface="Helvetica Neue"/>
              </a:defRPr>
            </a:pPr>
            <a:r>
              <a:rPr sz="2025" b="0">
                <a:solidFill>
                  <a:srgbClr val="D8E5DA"/>
                </a:solidFill>
                <a:latin typeface="Helvetica Neue"/>
                <a:ea typeface="Helvetica Neue"/>
                <a:cs typeface="Helvetica Neue"/>
              </a:rPr>
              <a:t>Static knowledge only. No project access, model calls or external writes.</a:t>
            </a:r>
          </a:p>
        </p:txBody>
      </p:sp>
      <p:sp>
        <p:nvSpPr>
          <p:cNvPr id="7" name="">
            <a:extLst xmlns:a="http://schemas.openxmlformats.org/drawingml/2006/main">
              <a:ext uri="{FF2B5EF4-FFF2-40B4-BE49-F238E27FC236}">
                <a16:creationId xmlns:a16="http://schemas.microsoft.com/office/drawing/2014/main" id="{8EE4E115-2B54-4400-9808-E31297060330}"/>
              </a:ext>
            </a:extLst>
          </p:cNvPr>
          <p:cNvSpPr>
            <a:spLocks xmlns:a="http://schemas.openxmlformats.org/drawingml/2006/main" noGrp="1"/>
          </p:cNvSpPr>
          <p:nvPr/>
        </p:nvSpPr>
        <p:spPr>
          <a:xfrm xmlns:a="http://schemas.openxmlformats.org/drawingml/2006/main">
            <a:off x="619125" y="3914775"/>
            <a:ext cx="50292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4F1E7"/>
                </a:solidFill>
                <a:latin typeface="Helvetica Neue"/>
                <a:ea typeface="Helvetica Neue"/>
                <a:cs typeface="Helvetica Neue"/>
              </a:defRPr>
            </a:pPr>
            <a:r>
              <a:rPr sz="2175" b="1">
                <a:solidFill>
                  <a:srgbClr val="F4F1E7"/>
                </a:solidFill>
                <a:latin typeface="Helvetica Neue"/>
                <a:ea typeface="Helvetica Neue"/>
                <a:cs typeface="Helvetica Neue"/>
              </a:rPr>
              <a:t>Data care</a:t>
            </a:r>
          </a:p>
        </p:txBody>
      </p:sp>
      <p:sp>
        <p:nvSpPr>
          <p:cNvPr id="8" name="">
            <a:extLst xmlns:a="http://schemas.openxmlformats.org/drawingml/2006/main">
              <a:ext uri="{FF2B5EF4-FFF2-40B4-BE49-F238E27FC236}">
                <a16:creationId xmlns:a16="http://schemas.microsoft.com/office/drawing/2014/main" id="{9199A182-9601-453F-8DF5-B861F0BC056A}"/>
              </a:ext>
            </a:extLst>
          </p:cNvPr>
          <p:cNvSpPr>
            <a:spLocks xmlns:a="http://schemas.openxmlformats.org/drawingml/2006/main" noGrp="1"/>
          </p:cNvSpPr>
          <p:nvPr/>
        </p:nvSpPr>
        <p:spPr>
          <a:xfrm xmlns:a="http://schemas.openxmlformats.org/drawingml/2006/main">
            <a:off x="619125" y="4467225"/>
            <a:ext cx="50292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8E5DA"/>
                </a:solidFill>
                <a:latin typeface="Helvetica Neue"/>
                <a:ea typeface="Helvetica Neue"/>
                <a:cs typeface="Helvetica Neue"/>
              </a:defRPr>
            </a:pPr>
            <a:r>
              <a:rPr sz="2025" b="0">
                <a:solidFill>
                  <a:srgbClr val="D8E5DA"/>
                </a:solidFill>
                <a:latin typeface="Helvetica Neue"/>
                <a:ea typeface="Helvetica Neue"/>
                <a:cs typeface="Helvetica Neue"/>
              </a:rPr>
              <a:t>Host and model-provider policies still apply. Public MCP arguments should contain no confidential or personal data.</a:t>
            </a:r>
          </a:p>
        </p:txBody>
      </p:sp>
      <p:sp>
        <p:nvSpPr>
          <p:cNvPr id="9" name="">
            <a:extLst xmlns:a="http://schemas.openxmlformats.org/drawingml/2006/main">
              <a:ext uri="{FF2B5EF4-FFF2-40B4-BE49-F238E27FC236}">
                <a16:creationId xmlns:a16="http://schemas.microsoft.com/office/drawing/2014/main" id="{C629D68A-0CF3-4259-B58F-65BB3F537D75}"/>
              </a:ext>
            </a:extLst>
          </p:cNvPr>
          <p:cNvSpPr>
            <a:spLocks xmlns:a="http://schemas.openxmlformats.org/drawingml/2006/main" noGrp="1"/>
          </p:cNvSpPr>
          <p:nvPr/>
        </p:nvSpPr>
        <p:spPr>
          <a:xfrm xmlns:a="http://schemas.openxmlformats.org/drawingml/2006/main">
            <a:off x="6238875" y="3914775"/>
            <a:ext cx="52863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4F1E7"/>
                </a:solidFill>
                <a:latin typeface="Helvetica Neue"/>
                <a:ea typeface="Helvetica Neue"/>
                <a:cs typeface="Helvetica Neue"/>
              </a:defRPr>
            </a:pPr>
            <a:r>
              <a:rPr sz="2175" b="1">
                <a:solidFill>
                  <a:srgbClr val="F4F1E7"/>
                </a:solidFill>
                <a:latin typeface="Helvetica Neue"/>
                <a:ea typeface="Helvetica Neue"/>
                <a:cs typeface="Helvetica Neue"/>
              </a:rPr>
              <a:t>Cost and ownership</a:t>
            </a:r>
          </a:p>
        </p:txBody>
      </p:sp>
      <p:sp>
        <p:nvSpPr>
          <p:cNvPr id="10" name="">
            <a:extLst xmlns:a="http://schemas.openxmlformats.org/drawingml/2006/main">
              <a:ext uri="{FF2B5EF4-FFF2-40B4-BE49-F238E27FC236}">
                <a16:creationId xmlns:a16="http://schemas.microsoft.com/office/drawing/2014/main" id="{07C68A6C-A187-4BA3-9208-71DC156E5222}"/>
              </a:ext>
            </a:extLst>
          </p:cNvPr>
          <p:cNvSpPr>
            <a:spLocks xmlns:a="http://schemas.openxmlformats.org/drawingml/2006/main" noGrp="1"/>
          </p:cNvSpPr>
          <p:nvPr/>
        </p:nvSpPr>
        <p:spPr>
          <a:xfrm xmlns:a="http://schemas.openxmlformats.org/drawingml/2006/main">
            <a:off x="6238875" y="4467225"/>
            <a:ext cx="52863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D8E5DA"/>
                </a:solidFill>
                <a:latin typeface="Helvetica Neue"/>
                <a:ea typeface="Helvetica Neue"/>
                <a:cs typeface="Helvetica Neue"/>
              </a:defRPr>
            </a:pPr>
            <a:r>
              <a:rPr sz="2025" b="0">
                <a:solidFill>
                  <a:srgbClr val="D8E5DA"/>
                </a:solidFill>
                <a:latin typeface="Helvetica Neue"/>
                <a:ea typeface="Helvetica Neue"/>
                <a:cs typeface="Helvetica Neue"/>
              </a:rPr>
              <a:t>MIT-licensed code. Model use, connected tools and hosting may have separate costs.</a:t>
            </a:r>
          </a:p>
        </p:txBody>
      </p:sp>
    </p:spTree>
    <p:extLst>
      <p:ext uri="{BB962C8B-B14F-4D97-AF65-F5344CB8AC3E}">
        <p14:creationId xmlns:p14="http://schemas.microsoft.com/office/powerpoint/2010/main" val="307680907"/>
      </p:ext>
    </p:extLst>
  </p:cSld>
</p:sld>
</file>

<file path=ppt/slides/slide11.xml><?xml version="1.0" encoding="utf-8"?>
<p:sld xmlns:p="http://schemas.openxmlformats.org/presentationml/2006/main">
  <p:cSld>
    <p:bg>
      <p:bgPr>
        <a:solidFill xmlns:a="http://schemas.openxmlformats.org/drawingml/2006/main">
          <a:srgbClr val="F4F1E7"/>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964459E-06E3-49F3-87C0-438F3045C506}"/>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F35"/>
                </a:solidFill>
                <a:latin typeface="Helvetica Neue"/>
                <a:ea typeface="Helvetica Neue"/>
                <a:cs typeface="Helvetica Neue"/>
              </a:defRPr>
            </a:pPr>
            <a:r>
              <a:rPr sz="3450" b="1">
                <a:solidFill>
                  <a:srgbClr val="173F35"/>
                </a:solidFill>
                <a:latin typeface="Helvetica Neue"/>
                <a:ea typeface="Helvetica Neue"/>
                <a:cs typeface="Helvetica Neue"/>
              </a:rPr>
              <a:t>Creator feedback and product changes</a:t>
            </a:r>
          </a:p>
        </p:txBody>
      </p:sp>
      <p:sp>
        <p:nvSpPr>
          <p:cNvPr id="2" name="">
            <a:extLst xmlns:a="http://schemas.openxmlformats.org/drawingml/2006/main">
              <a:ext uri="{FF2B5EF4-FFF2-40B4-BE49-F238E27FC236}">
                <a16:creationId xmlns:a16="http://schemas.microsoft.com/office/drawing/2014/main" id="{76F4793D-D0FE-46FC-A2BF-6842D0F86909}"/>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56B"/>
                </a:solidFill>
                <a:latin typeface="Helvetica Neue"/>
                <a:ea typeface="Helvetica Neue"/>
                <a:cs typeface="Helvetica Neue"/>
              </a:defRPr>
            </a:pPr>
            <a:r>
              <a:rPr sz="1350" b="0">
                <a:solidFill>
                  <a:srgbClr val="66756B"/>
                </a:solidFill>
                <a:latin typeface="Helvetica Neue"/>
                <a:ea typeface="Helvetica Neue"/>
                <a:cs typeface="Helvetica Neue"/>
              </a:rPr>
              <a:t>11</a:t>
            </a:r>
          </a:p>
        </p:txBody>
      </p:sp>
      <p:sp>
        <p:nvSpPr>
          <p:cNvPr id="3" name="">
            <a:extLst xmlns:a="http://schemas.openxmlformats.org/drawingml/2006/main">
              <a:ext uri="{FF2B5EF4-FFF2-40B4-BE49-F238E27FC236}">
                <a16:creationId xmlns:a16="http://schemas.microsoft.com/office/drawing/2014/main" id="{3A299616-2556-4056-AC43-71FD9EC9E704}"/>
              </a:ext>
            </a:extLst>
          </p:cNvPr>
          <p:cNvSpPr>
            <a:spLocks xmlns:a="http://schemas.openxmlformats.org/drawingml/2006/main" noGrp="1"/>
          </p:cNvSpPr>
          <p:nvPr/>
        </p:nvSpPr>
        <p:spPr>
          <a:xfrm xmlns:a="http://schemas.openxmlformats.org/drawingml/2006/main">
            <a:off x="619125" y="1476375"/>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66756B"/>
                </a:solidFill>
                <a:latin typeface="Helvetica Neue"/>
                <a:ea typeface="Helvetica Neue"/>
                <a:cs typeface="Helvetica Neue"/>
              </a:defRPr>
            </a:pPr>
            <a:r>
              <a:rPr sz="2100" b="1">
                <a:solidFill>
                  <a:srgbClr val="66756B"/>
                </a:solidFill>
                <a:latin typeface="Helvetica Neue"/>
                <a:ea typeface="Helvetica Neue"/>
                <a:cs typeface="Helvetica Neue"/>
              </a:rPr>
              <a:t>Real creator/user feedback, n = 1</a:t>
            </a:r>
          </a:p>
        </p:txBody>
      </p:sp>
      <p:graphicFrame>
        <p:nvGraphicFramePr>
          <p:cNvPr id="9" name=""/>
          <p:cNvGraphicFramePr/>
          <p:nvPr/>
        </p:nvGraphicFramePr>
        <p:xfrm>
          <a:off xmlns:a="http://schemas.openxmlformats.org/drawingml/2006/main" x="609600" y="2209800"/>
          <a:ext xmlns:a="http://schemas.openxmlformats.org/drawingml/2006/main" cx="10972800" cy="3028950"/>
        </p:xfrm>
        <a:graphic xmlns:a="http://schemas.openxmlformats.org/drawingml/2006/main">
          <a:graphicData uri="http://schemas.openxmlformats.org/drawingml/2006/table">
            <a:tbl>
              <a:tblPr/>
              <a:tblGrid>
                <a:gridCol w="5334000"/>
                <a:gridCol w="5638800"/>
              </a:tblGrid>
              <a:tr h="757238">
                <a:tc>
                  <a:txBody>
                    <a:bodyPr>
                      <a:noAutofit/>
                    </a:bodyPr>
                    <a:lstStyle/>
                    <a:p>
                      <a:r>
                        <a:rPr sz="1875" b="1">
                          <a:solidFill>
                            <a:srgbClr val="F4F1E7"/>
                          </a:solidFill>
                          <a:latin typeface="Helvetica Neue"/>
                          <a:ea typeface="Helvetica Neue"/>
                          <a:cs typeface="Helvetica Neue"/>
                        </a:rPr>
                        <a:t>Observed issue</a:t>
                      </a:r>
                    </a:p>
                  </a:txBody>
                  <a:tcPr marL="152400" marR="152400" marT="114300" marB="95250" anchor="ctr">
                    <a:solidFill>
                      <a:srgbClr val="173F35"/>
                    </a:solidFill>
                  </a:tcPr>
                </a:tc>
                <a:tc>
                  <a:txBody>
                    <a:bodyPr>
                      <a:noAutofit/>
                    </a:bodyPr>
                    <a:lstStyle/>
                    <a:p>
                      <a:r>
                        <a:rPr sz="1875" b="1">
                          <a:solidFill>
                            <a:srgbClr val="F4F1E7"/>
                          </a:solidFill>
                          <a:latin typeface="Helvetica Neue"/>
                          <a:ea typeface="Helvetica Neue"/>
                          <a:cs typeface="Helvetica Neue"/>
                        </a:rPr>
                        <a:t>Product response</a:t>
                      </a:r>
                    </a:p>
                  </a:txBody>
                  <a:tcPr marL="152400" marR="152400" marT="114300" marB="95250" anchor="ctr">
                    <a:solidFill>
                      <a:srgbClr val="173F35"/>
                    </a:solidFill>
                  </a:tcPr>
                </a:tc>
              </a:tr>
              <a:tr h="757238">
                <a:tc>
                  <a:txBody>
                    <a:bodyPr>
                      <a:noAutofit/>
                    </a:bodyPr>
                    <a:lstStyle/>
                    <a:p>
                      <a:r>
                        <a:rPr sz="1875" b="0">
                          <a:solidFill>
                            <a:srgbClr val="1C302B"/>
                          </a:solidFill>
                          <a:latin typeface="Helvetica Neue"/>
                          <a:ea typeface="Helvetica Neue"/>
                          <a:cs typeface="Helvetica Neue"/>
                        </a:rPr>
                        <a:t>MCP did not deliver the full native experience</a:t>
                      </a:r>
                    </a:p>
                  </a:txBody>
                  <a:tcPr marL="152400" marR="152400" marT="114300" marB="95250" anchor="ctr">
                    <a:solidFill>
                      <a:srgbClr val="F4F1E7"/>
                    </a:solidFill>
                  </a:tcPr>
                </a:tc>
                <a:tc>
                  <a:txBody>
                    <a:bodyPr>
                      <a:noAutofit/>
                    </a:bodyPr>
                    <a:lstStyle/>
                    <a:p>
                      <a:r>
                        <a:rPr sz="1875" b="0">
                          <a:solidFill>
                            <a:srgbClr val="1C302B"/>
                          </a:solidFill>
                          <a:latin typeface="Helvetica Neue"/>
                          <a:ea typeface="Helvetica Neue"/>
                          <a:cs typeface="Helvetica Neue"/>
                        </a:rPr>
                        <a:t>Full Codex plugin package and explicit scope boundary</a:t>
                      </a:r>
                    </a:p>
                  </a:txBody>
                  <a:tcPr marL="152400" marR="152400" marT="114300" marB="95250" anchor="ctr">
                    <a:solidFill>
                      <a:srgbClr val="F4F1E7"/>
                    </a:solidFill>
                  </a:tcPr>
                </a:tc>
              </a:tr>
              <a:tr h="757238">
                <a:tc>
                  <a:txBody>
                    <a:bodyPr>
                      <a:noAutofit/>
                    </a:bodyPr>
                    <a:lstStyle/>
                    <a:p>
                      <a:r>
                        <a:rPr sz="1875" b="0">
                          <a:solidFill>
                            <a:srgbClr val="1C302B"/>
                          </a:solidFill>
                          <a:latin typeface="Helvetica Neue"/>
                          <a:ea typeface="Helvetica Neue"/>
                          <a:cs typeface="Helvetica Neue"/>
                        </a:rPr>
                        <a:t>Grill Me naming varied after reinstall</a:t>
                      </a:r>
                    </a:p>
                  </a:txBody>
                  <a:tcPr marL="152400" marR="152400" marT="114300" marB="95250" anchor="ctr">
                    <a:solidFill>
                      <a:srgbClr val="E8EDE3"/>
                    </a:solidFill>
                  </a:tcPr>
                </a:tc>
                <a:tc>
                  <a:txBody>
                    <a:bodyPr>
                      <a:noAutofit/>
                    </a:bodyPr>
                    <a:lstStyle/>
                    <a:p>
                      <a:r>
                        <a:rPr sz="1875" b="0">
                          <a:solidFill>
                            <a:srgbClr val="1C302B"/>
                          </a:solidFill>
                          <a:latin typeface="Helvetica Neue"/>
                          <a:ea typeface="Helvetica Neue"/>
                          <a:cs typeface="Helvetica Neue"/>
                        </a:rPr>
                        <a:t>Preserved the public $grill-me name</a:t>
                      </a:r>
                    </a:p>
                  </a:txBody>
                  <a:tcPr marL="152400" marR="152400" marT="114300" marB="95250" anchor="ctr">
                    <a:solidFill>
                      <a:srgbClr val="E8EDE3"/>
                    </a:solidFill>
                  </a:tcPr>
                </a:tc>
              </a:tr>
              <a:tr h="757238">
                <a:tc>
                  <a:txBody>
                    <a:bodyPr>
                      <a:noAutofit/>
                    </a:bodyPr>
                    <a:lstStyle/>
                    <a:p>
                      <a:r>
                        <a:rPr sz="1875" b="0">
                          <a:solidFill>
                            <a:srgbClr val="1C302B"/>
                          </a:solidFill>
                          <a:latin typeface="Helvetica Neue"/>
                          <a:ea typeface="Helvetica Neue"/>
                          <a:cs typeface="Helvetica Neue"/>
                        </a:rPr>
                        <a:t>Repeated setup and approval friction</a:t>
                      </a:r>
                    </a:p>
                  </a:txBody>
                  <a:tcPr marL="152400" marR="152400" marT="114300" marB="95250" anchor="ctr">
                    <a:solidFill>
                      <a:srgbClr val="F4F1E7"/>
                    </a:solidFill>
                  </a:tcPr>
                </a:tc>
                <a:tc>
                  <a:txBody>
                    <a:bodyPr>
                      <a:noAutofit/>
                    </a:bodyPr>
                    <a:lstStyle/>
                    <a:p>
                      <a:r>
                        <a:rPr sz="1875" b="0">
                          <a:solidFill>
                            <a:srgbClr val="1C302B"/>
                          </a:solidFill>
                          <a:latin typeface="Helvetica Neue"/>
                          <a:ea typeface="Helvetica Neue"/>
                          <a:cs typeface="Helvetica Neue"/>
                        </a:rPr>
                        <a:t>Clearer installation guidance and human-control boundaries</a:t>
                      </a:r>
                    </a:p>
                  </a:txBody>
                  <a:tcPr marL="152400" marR="152400" marT="114300" marB="95250" anchor="ctr">
                    <a:solidFill>
                      <a:srgbClr val="F4F1E7"/>
                    </a:solidFill>
                  </a:tcPr>
                </a:tc>
              </a:tr>
            </a:tbl>
          </a:graphicData>
        </a:graphic>
      </p:graphicFrame>
      <p:sp>
        <p:nvSpPr>
          <p:cNvPr id="5" name="">
            <a:extLst xmlns:a="http://schemas.openxmlformats.org/drawingml/2006/main">
              <a:ext uri="{FF2B5EF4-FFF2-40B4-BE49-F238E27FC236}">
                <a16:creationId xmlns:a16="http://schemas.microsoft.com/office/drawing/2014/main" id="{A9CBF637-DF78-4553-8599-1DA769819D8F}"/>
              </a:ext>
            </a:extLst>
          </p:cNvPr>
          <p:cNvSpPr>
            <a:spLocks xmlns:a="http://schemas.openxmlformats.org/drawingml/2006/main" noGrp="1"/>
          </p:cNvSpPr>
          <p:nvPr/>
        </p:nvSpPr>
        <p:spPr>
          <a:xfrm xmlns:a="http://schemas.openxmlformats.org/drawingml/2006/main">
            <a:off x="619125" y="5562600"/>
            <a:ext cx="107632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73F35"/>
                </a:solidFill>
                <a:latin typeface="Helvetica Neue"/>
                <a:ea typeface="Helvetica Neue"/>
                <a:cs typeface="Helvetica Neue"/>
              </a:defRPr>
            </a:pPr>
            <a:r>
              <a:rPr sz="2025" b="1">
                <a:solidFill>
                  <a:srgbClr val="173F35"/>
                </a:solidFill>
                <a:latin typeface="Helvetica Neue"/>
                <a:ea typeface="Helvetica Neue"/>
                <a:cs typeface="Helvetica Neue"/>
              </a:rPr>
              <a:t>Next: observe independent PMs complete a first workflow.</a:t>
            </a:r>
          </a:p>
          <a:p xmlns:a="http://schemas.openxmlformats.org/drawingml/2006/main">
            <a:pPr>
              <a:defRPr sz="2025" b="1">
                <a:solidFill>
                  <a:srgbClr val="173F35"/>
                </a:solidFill>
                <a:latin typeface="Helvetica Neue"/>
                <a:ea typeface="Helvetica Neue"/>
                <a:cs typeface="Helvetica Neue"/>
              </a:defRPr>
            </a:pPr>
            <a:r>
              <a:rPr sz="2025" b="1">
                <a:solidFill>
                  <a:srgbClr val="173F35"/>
                </a:solidFill>
                <a:latin typeface="Helvetica Neue"/>
                <a:ea typeface="Helvetica Neue"/>
                <a:cs typeface="Helvetica Neue"/>
              </a:rPr>
              <a:t>Measure setup success, clarification quality and control over decisions.</a:t>
            </a:r>
          </a:p>
        </p:txBody>
      </p:sp>
    </p:spTree>
    <p:extLst>
      <p:ext uri="{BB962C8B-B14F-4D97-AF65-F5344CB8AC3E}">
        <p14:creationId xmlns:p14="http://schemas.microsoft.com/office/powerpoint/2010/main" val="1174218499"/>
      </p:ext>
    </p:extLst>
  </p:cSld>
</p:sld>
</file>

<file path=ppt/slides/slide12.xml><?xml version="1.0" encoding="utf-8"?>
<p:sld xmlns:p="http://schemas.openxmlformats.org/presentationml/2006/main">
  <p:cSld>
    <p:bg>
      <p:bgPr>
        <a:solidFill xmlns:a="http://schemas.openxmlformats.org/drawingml/2006/main">
          <a:srgbClr val="F4F1E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65215DB-8F3F-4C3C-8EA5-E0E48AFD4CC8}"/>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73F35"/>
                </a:solidFill>
                <a:latin typeface="Helvetica Neue"/>
                <a:ea typeface="Helvetica Neue"/>
                <a:cs typeface="Helvetica Neue"/>
              </a:defRPr>
            </a:pPr>
            <a:r>
              <a:rPr sz="3450" b="1">
                <a:solidFill>
                  <a:srgbClr val="173F35"/>
                </a:solidFill>
                <a:latin typeface="Helvetica Neue"/>
                <a:ea typeface="Helvetica Neue"/>
                <a:cs typeface="Helvetica Neue"/>
              </a:rPr>
              <a:t>Current status and learning priorities</a:t>
            </a:r>
          </a:p>
        </p:txBody>
      </p:sp>
      <p:sp>
        <p:nvSpPr>
          <p:cNvPr id="2" name="">
            <a:extLst xmlns:a="http://schemas.openxmlformats.org/drawingml/2006/main">
              <a:ext uri="{FF2B5EF4-FFF2-40B4-BE49-F238E27FC236}">
                <a16:creationId xmlns:a16="http://schemas.microsoft.com/office/drawing/2014/main" id="{F5A35721-3437-43B6-890F-47A77FE657DC}"/>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6756B"/>
                </a:solidFill>
                <a:latin typeface="Helvetica Neue"/>
                <a:ea typeface="Helvetica Neue"/>
                <a:cs typeface="Helvetica Neue"/>
              </a:defRPr>
            </a:pPr>
            <a:r>
              <a:rPr sz="1350" b="0">
                <a:solidFill>
                  <a:srgbClr val="66756B"/>
                </a:solidFill>
                <a:latin typeface="Helvetica Neue"/>
                <a:ea typeface="Helvetica Neue"/>
                <a:cs typeface="Helvetica Neue"/>
              </a:rPr>
              <a:t>12</a:t>
            </a:r>
          </a:p>
        </p:txBody>
      </p:sp>
      <p:sp>
        <p:nvSpPr>
          <p:cNvPr id="3" name="">
            <a:extLst xmlns:a="http://schemas.openxmlformats.org/drawingml/2006/main">
              <a:ext uri="{FF2B5EF4-FFF2-40B4-BE49-F238E27FC236}">
                <a16:creationId xmlns:a16="http://schemas.microsoft.com/office/drawing/2014/main" id="{16B9FEB9-85F1-4D67-8E8A-6A2090D1CABD}"/>
              </a:ext>
            </a:extLst>
          </p:cNvPr>
          <p:cNvSpPr>
            <a:spLocks xmlns:a="http://schemas.openxmlformats.org/drawingml/2006/main" noGrp="1"/>
          </p:cNvSpPr>
          <p:nvPr/>
        </p:nvSpPr>
        <p:spPr>
          <a:xfrm xmlns:a="http://schemas.openxmlformats.org/drawingml/2006/main">
            <a:off x="619125" y="168592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F35"/>
                </a:solidFill>
                <a:latin typeface="Helvetica Neue"/>
                <a:ea typeface="Helvetica Neue"/>
                <a:cs typeface="Helvetica Neue"/>
              </a:defRPr>
            </a:pPr>
            <a:r>
              <a:rPr sz="2175" b="1">
                <a:solidFill>
                  <a:srgbClr val="173F35"/>
                </a:solidFill>
                <a:latin typeface="Helvetica Neue"/>
                <a:ea typeface="Helvetica Neue"/>
                <a:cs typeface="Helvetica Neue"/>
              </a:rPr>
              <a:t>Available now</a:t>
            </a:r>
          </a:p>
        </p:txBody>
      </p:sp>
      <p:sp>
        <p:nvSpPr>
          <p:cNvPr id="4" name="">
            <a:extLst xmlns:a="http://schemas.openxmlformats.org/drawingml/2006/main">
              <a:ext uri="{FF2B5EF4-FFF2-40B4-BE49-F238E27FC236}">
                <a16:creationId xmlns:a16="http://schemas.microsoft.com/office/drawing/2014/main" id="{A8D371AF-1E2F-4E01-9F15-BED85267E1A0}"/>
              </a:ext>
            </a:extLst>
          </p:cNvPr>
          <p:cNvSpPr>
            <a:spLocks xmlns:a="http://schemas.openxmlformats.org/drawingml/2006/main" noGrp="1"/>
          </p:cNvSpPr>
          <p:nvPr/>
        </p:nvSpPr>
        <p:spPr>
          <a:xfrm xmlns:a="http://schemas.openxmlformats.org/drawingml/2006/main">
            <a:off x="619125" y="2238375"/>
            <a:ext cx="514350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02B"/>
                </a:solidFill>
                <a:latin typeface="Helvetica Neue"/>
                <a:ea typeface="Helvetica Neue"/>
                <a:cs typeface="Helvetica Neue"/>
              </a:defRPr>
            </a:pPr>
            <a:r>
              <a:rPr sz="2025" b="0">
                <a:solidFill>
                  <a:srgbClr val="1C302B"/>
                </a:solidFill>
                <a:latin typeface="Helvetica Neue"/>
                <a:ea typeface="Helvetica Neue"/>
                <a:cs typeface="Helvetica Neue"/>
              </a:rPr>
              <a:t>Versioned code on GitHub.</a:t>
            </a:r>
          </a:p>
          <a:p xmlns:a="http://schemas.openxmlformats.org/drawingml/2006/main">
            <a:pPr>
              <a:defRPr sz="2025" b="0">
                <a:solidFill>
                  <a:srgbClr val="1C302B"/>
                </a:solidFill>
                <a:latin typeface="Helvetica Neue"/>
                <a:ea typeface="Helvetica Neue"/>
                <a:cs typeface="Helvetica Neue"/>
              </a:defRPr>
            </a:pPr>
            <a:r>
              <a:rPr sz="2025" b="0">
                <a:solidFill>
                  <a:srgbClr val="1C302B"/>
                </a:solidFill>
                <a:latin typeface="Helvetica Neue"/>
                <a:ea typeface="Helvetica Neue"/>
                <a:cs typeface="Helvetica Neue"/>
              </a:rPr>
              <a:t>Native package for Codex and Claude Code.</a:t>
            </a:r>
          </a:p>
          <a:p xmlns:a="http://schemas.openxmlformats.org/drawingml/2006/main">
            <a:pPr>
              <a:defRPr sz="2025" b="0">
                <a:solidFill>
                  <a:srgbClr val="1C302B"/>
                </a:solidFill>
                <a:latin typeface="Helvetica Neue"/>
                <a:ea typeface="Helvetica Neue"/>
                <a:cs typeface="Helvetica Neue"/>
              </a:defRPr>
            </a:pPr>
            <a:r>
              <a:rPr sz="2025" b="0">
                <a:solidFill>
                  <a:srgbClr val="1C302B"/>
                </a:solidFill>
                <a:latin typeface="Helvetica Neue"/>
                <a:ea typeface="Helvetica Neue"/>
                <a:cs typeface="Helvetica Neue"/>
              </a:rPr>
              <a:t>Local product board and project memory.</a:t>
            </a:r>
          </a:p>
        </p:txBody>
      </p:sp>
      <p:sp>
        <p:nvSpPr>
          <p:cNvPr id="5" name="">
            <a:extLst xmlns:a="http://schemas.openxmlformats.org/drawingml/2006/main">
              <a:ext uri="{FF2B5EF4-FFF2-40B4-BE49-F238E27FC236}">
                <a16:creationId xmlns:a16="http://schemas.microsoft.com/office/drawing/2014/main" id="{EF26EDA0-AE75-45C2-B679-14F321B8ECED}"/>
              </a:ext>
            </a:extLst>
          </p:cNvPr>
          <p:cNvSpPr>
            <a:spLocks xmlns:a="http://schemas.openxmlformats.org/drawingml/2006/main" noGrp="1"/>
          </p:cNvSpPr>
          <p:nvPr/>
        </p:nvSpPr>
        <p:spPr>
          <a:xfrm xmlns:a="http://schemas.openxmlformats.org/drawingml/2006/main">
            <a:off x="6429375" y="1685925"/>
            <a:ext cx="5048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173F35"/>
                </a:solidFill>
                <a:latin typeface="Helvetica Neue"/>
                <a:ea typeface="Helvetica Neue"/>
                <a:cs typeface="Helvetica Neue"/>
              </a:defRPr>
            </a:pPr>
            <a:r>
              <a:rPr sz="2175" b="1">
                <a:solidFill>
                  <a:srgbClr val="173F35"/>
                </a:solidFill>
                <a:latin typeface="Helvetica Neue"/>
                <a:ea typeface="Helvetica Neue"/>
                <a:cs typeface="Helvetica Neue"/>
              </a:rPr>
              <a:t>Prepared separately</a:t>
            </a:r>
          </a:p>
        </p:txBody>
      </p:sp>
      <p:sp>
        <p:nvSpPr>
          <p:cNvPr id="6" name="">
            <a:extLst xmlns:a="http://schemas.openxmlformats.org/drawingml/2006/main">
              <a:ext uri="{FF2B5EF4-FFF2-40B4-BE49-F238E27FC236}">
                <a16:creationId xmlns:a16="http://schemas.microsoft.com/office/drawing/2014/main" id="{C4A1B733-B23A-4F52-A7B4-DAD02041B5A5}"/>
              </a:ext>
            </a:extLst>
          </p:cNvPr>
          <p:cNvSpPr>
            <a:spLocks xmlns:a="http://schemas.openxmlformats.org/drawingml/2006/main" noGrp="1"/>
          </p:cNvSpPr>
          <p:nvPr/>
        </p:nvSpPr>
        <p:spPr>
          <a:xfrm xmlns:a="http://schemas.openxmlformats.org/drawingml/2006/main">
            <a:off x="6429375" y="2238375"/>
            <a:ext cx="5048250"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02B"/>
                </a:solidFill>
                <a:latin typeface="Helvetica Neue"/>
                <a:ea typeface="Helvetica Neue"/>
                <a:cs typeface="Helvetica Neue"/>
              </a:defRPr>
            </a:pPr>
            <a:r>
              <a:rPr sz="2025" b="0">
                <a:solidFill>
                  <a:srgbClr val="1C302B"/>
                </a:solidFill>
                <a:latin typeface="Helvetica Neue"/>
                <a:ea typeface="Helvetica Neue"/>
                <a:cs typeface="Helvetica Neue"/>
              </a:rPr>
              <a:t>Curated read-only MCP implementation.</a:t>
            </a:r>
          </a:p>
          <a:p xmlns:a="http://schemas.openxmlformats.org/drawingml/2006/main">
            <a:pPr>
              <a:defRPr sz="2025" b="0">
                <a:solidFill>
                  <a:srgbClr val="1C302B"/>
                </a:solidFill>
                <a:latin typeface="Helvetica Neue"/>
                <a:ea typeface="Helvetica Neue"/>
                <a:cs typeface="Helvetica Neue"/>
              </a:defRPr>
            </a:pPr>
            <a:r>
              <a:rPr sz="2025" b="0">
                <a:solidFill>
                  <a:srgbClr val="1C302B"/>
                </a:solidFill>
                <a:latin typeface="Helvetica Neue"/>
                <a:ea typeface="Helvetica Neue"/>
                <a:cs typeface="Helvetica Neue"/>
              </a:rPr>
              <a:t>The hosted release is outside this submission.</a:t>
            </a:r>
          </a:p>
        </p:txBody>
      </p:sp>
      <p:sp>
        <p:nvSpPr>
          <p:cNvPr id="7" name="">
            <a:extLst xmlns:a="http://schemas.openxmlformats.org/drawingml/2006/main">
              <a:ext uri="{FF2B5EF4-FFF2-40B4-BE49-F238E27FC236}">
                <a16:creationId xmlns:a16="http://schemas.microsoft.com/office/drawing/2014/main" id="{8FD038FE-4A5F-46C9-B07F-6F49D7E9D0CA}"/>
              </a:ext>
            </a:extLst>
          </p:cNvPr>
          <p:cNvSpPr>
            <a:spLocks xmlns:a="http://schemas.openxmlformats.org/drawingml/2006/main" noGrp="1"/>
          </p:cNvSpPr>
          <p:nvPr/>
        </p:nvSpPr>
        <p:spPr>
          <a:xfrm xmlns:a="http://schemas.openxmlformats.org/drawingml/2006/main">
            <a:off x="619125" y="4048125"/>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73F35"/>
                </a:solidFill>
                <a:latin typeface="Helvetica Neue"/>
                <a:ea typeface="Helvetica Neue"/>
                <a:cs typeface="Helvetica Neue"/>
              </a:defRPr>
            </a:pPr>
            <a:r>
              <a:rPr sz="2550" b="1">
                <a:solidFill>
                  <a:srgbClr val="173F35"/>
                </a:solidFill>
                <a:latin typeface="Helvetica Neue"/>
                <a:ea typeface="Helvetica Neue"/>
                <a:cs typeface="Helvetica Neue"/>
              </a:rPr>
              <a:t>What still needs independent evidence</a:t>
            </a:r>
          </a:p>
        </p:txBody>
      </p:sp>
      <p:sp>
        <p:nvSpPr>
          <p:cNvPr id="8" name="">
            <a:extLst xmlns:a="http://schemas.openxmlformats.org/drawingml/2006/main">
              <a:ext uri="{FF2B5EF4-FFF2-40B4-BE49-F238E27FC236}">
                <a16:creationId xmlns:a16="http://schemas.microsoft.com/office/drawing/2014/main" id="{E09E7C32-A149-4856-B3D4-17F26C1DFC45}"/>
              </a:ext>
            </a:extLst>
          </p:cNvPr>
          <p:cNvSpPr>
            <a:spLocks xmlns:a="http://schemas.openxmlformats.org/drawingml/2006/main" noGrp="1"/>
          </p:cNvSpPr>
          <p:nvPr/>
        </p:nvSpPr>
        <p:spPr>
          <a:xfrm xmlns:a="http://schemas.openxmlformats.org/drawingml/2006/main">
            <a:off x="619125" y="4838700"/>
            <a:ext cx="10858500" cy="1247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1C302B"/>
                </a:solidFill>
                <a:latin typeface="Helvetica Neue"/>
                <a:ea typeface="Helvetica Neue"/>
                <a:cs typeface="Helvetica Neue"/>
              </a:defRPr>
            </a:pPr>
            <a:r>
              <a:rPr sz="2100" b="0">
                <a:solidFill>
                  <a:srgbClr val="1C302B"/>
                </a:solidFill>
                <a:latin typeface="Helvetica Neue"/>
                <a:ea typeface="Helvetica Neue"/>
                <a:cs typeface="Helvetica Neue"/>
              </a:rPr>
              <a:t>Can a new PM complete setup and the first workflow?</a:t>
            </a:r>
          </a:p>
          <a:p xmlns:a="http://schemas.openxmlformats.org/drawingml/2006/main">
            <a:pPr>
              <a:defRPr sz="2100" b="0">
                <a:solidFill>
                  <a:srgbClr val="1C302B"/>
                </a:solidFill>
                <a:latin typeface="Helvetica Neue"/>
                <a:ea typeface="Helvetica Neue"/>
                <a:cs typeface="Helvetica Neue"/>
              </a:defRPr>
            </a:pPr>
            <a:r>
              <a:rPr sz="2100" b="0">
                <a:solidFill>
                  <a:srgbClr val="1C302B"/>
                </a:solidFill>
                <a:latin typeface="Helvetica Neue"/>
                <a:ea typeface="Helvetica Neue"/>
                <a:cs typeface="Helvetica Neue"/>
              </a:rPr>
              <a:t>Does Grill Me improve the clarity of a decision brief?</a:t>
            </a:r>
          </a:p>
          <a:p xmlns:a="http://schemas.openxmlformats.org/drawingml/2006/main">
            <a:pPr>
              <a:defRPr sz="2100" b="0">
                <a:solidFill>
                  <a:srgbClr val="1C302B"/>
                </a:solidFill>
                <a:latin typeface="Helvetica Neue"/>
                <a:ea typeface="Helvetica Neue"/>
                <a:cs typeface="Helvetica Neue"/>
              </a:defRPr>
            </a:pPr>
            <a:r>
              <a:rPr sz="2100" b="0">
                <a:solidFill>
                  <a:srgbClr val="1C302B"/>
                </a:solidFill>
                <a:latin typeface="Helvetica Neue"/>
                <a:ea typeface="Helvetica Neue"/>
                <a:cs typeface="Helvetica Neue"/>
              </a:rPr>
              <a:t>Do users understand where human approval is required?</a:t>
            </a:r>
          </a:p>
        </p:txBody>
      </p:sp>
    </p:spTree>
    <p:extLst>
      <p:ext uri="{BB962C8B-B14F-4D97-AF65-F5344CB8AC3E}">
        <p14:creationId xmlns:p14="http://schemas.microsoft.com/office/powerpoint/2010/main" val="518585234"/>
      </p:ext>
    </p:extLst>
  </p:cSld>
</p:sld>
</file>

<file path=ppt/slides/slide13.xml><?xml version="1.0" encoding="utf-8"?>
<p:sld xmlns:p="http://schemas.openxmlformats.org/presentationml/2006/main">
  <p:cSld>
    <p:bg>
      <p:bgPr>
        <a:solidFill xmlns:a="http://schemas.openxmlformats.org/drawingml/2006/main">
          <a:srgbClr val="173F35"/>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80408A1-8716-47EC-A26E-7653DCF58D52}"/>
              </a:ext>
            </a:extLst>
          </p:cNvPr>
          <p:cNvSpPr>
            <a:spLocks xmlns:a="http://schemas.openxmlformats.org/drawingml/2006/main" noGrp="1"/>
          </p:cNvSpPr>
          <p:nvPr/>
        </p:nvSpPr>
        <p:spPr>
          <a:xfrm xmlns:a="http://schemas.openxmlformats.org/drawingml/2006/main">
            <a:off x="609600" y="476250"/>
            <a:ext cx="1095375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4F1E7"/>
                </a:solidFill>
                <a:latin typeface="Helvetica Neue"/>
                <a:ea typeface="Helvetica Neue"/>
                <a:cs typeface="Helvetica Neue"/>
              </a:defRPr>
            </a:pPr>
            <a:r>
              <a:rPr sz="3450" b="1">
                <a:solidFill>
                  <a:srgbClr val="F4F1E7"/>
                </a:solidFill>
                <a:latin typeface="Helvetica Neue"/>
                <a:ea typeface="Helvetica Neue"/>
                <a:cs typeface="Helvetica Neue"/>
              </a:rPr>
              <a:t>Getting started</a:t>
            </a:r>
          </a:p>
        </p:txBody>
      </p:sp>
      <p:sp>
        <p:nvSpPr>
          <p:cNvPr id="2" name="">
            <a:extLst xmlns:a="http://schemas.openxmlformats.org/drawingml/2006/main">
              <a:ext uri="{FF2B5EF4-FFF2-40B4-BE49-F238E27FC236}">
                <a16:creationId xmlns:a16="http://schemas.microsoft.com/office/drawing/2014/main" id="{57BC2AFF-B45B-4D0A-B1A6-CE9BE4F49DE7}"/>
              </a:ext>
            </a:extLst>
          </p:cNvPr>
          <p:cNvSpPr>
            <a:spLocks xmlns:a="http://schemas.openxmlformats.org/drawingml/2006/main" noGrp="1"/>
          </p:cNvSpPr>
          <p:nvPr/>
        </p:nvSpPr>
        <p:spPr>
          <a:xfrm xmlns:a="http://schemas.openxmlformats.org/drawingml/2006/main">
            <a:off x="11144250" y="6315075"/>
            <a:ext cx="4572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D8E5DA"/>
                </a:solidFill>
                <a:latin typeface="Helvetica Neue"/>
                <a:ea typeface="Helvetica Neue"/>
                <a:cs typeface="Helvetica Neue"/>
              </a:defRPr>
            </a:pPr>
            <a:r>
              <a:rPr sz="1350" b="0">
                <a:solidFill>
                  <a:srgbClr val="D8E5DA"/>
                </a:solidFill>
                <a:latin typeface="Helvetica Neue"/>
                <a:ea typeface="Helvetica Neue"/>
                <a:cs typeface="Helvetica Neue"/>
              </a:rPr>
              <a:t>13</a:t>
            </a:r>
          </a:p>
        </p:txBody>
      </p:sp>
      <p:sp>
        <p:nvSpPr>
          <p:cNvPr id="3" name="">
            <a:extLst xmlns:a="http://schemas.openxmlformats.org/drawingml/2006/main">
              <a:ext uri="{FF2B5EF4-FFF2-40B4-BE49-F238E27FC236}">
                <a16:creationId xmlns:a16="http://schemas.microsoft.com/office/drawing/2014/main" id="{5FCEEE09-E188-4F8A-AFA1-2EA71A386008}"/>
              </a:ext>
            </a:extLst>
          </p:cNvPr>
          <p:cNvSpPr>
            <a:spLocks xmlns:a="http://schemas.openxmlformats.org/drawingml/2006/main" noGrp="1"/>
          </p:cNvSpPr>
          <p:nvPr/>
        </p:nvSpPr>
        <p:spPr>
          <a:xfrm xmlns:a="http://schemas.openxmlformats.org/drawingml/2006/main">
            <a:off x="619125" y="16097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625" b="1">
                <a:solidFill>
                  <a:srgbClr val="F4F1E7"/>
                </a:solidFill>
                <a:latin typeface="Helvetica Neue"/>
                <a:ea typeface="Helvetica Neue"/>
                <a:cs typeface="Helvetica Neue"/>
              </a:defRPr>
            </a:pPr>
            <a:r>
              <a:rPr sz="2625" b="1">
                <a:solidFill>
                  <a:srgbClr val="F4F1E7"/>
                </a:solidFill>
                <a:latin typeface="Helvetica Neue"/>
                <a:ea typeface="Helvetica Neue"/>
                <a:cs typeface="Helvetica Neue"/>
              </a:rPr>
              <a:t>github.com/VandanaAjayDubey111/great-pm</a:t>
            </a:r>
          </a:p>
        </p:txBody>
      </p:sp>
      <p:sp>
        <p:nvSpPr>
          <p:cNvPr id="4" name="">
            <a:extLst xmlns:a="http://schemas.openxmlformats.org/drawingml/2006/main">
              <a:ext uri="{FF2B5EF4-FFF2-40B4-BE49-F238E27FC236}">
                <a16:creationId xmlns:a16="http://schemas.microsoft.com/office/drawing/2014/main" id="{75F55AB0-1C9A-4576-812A-F529A298F897}"/>
              </a:ext>
            </a:extLst>
          </p:cNvPr>
          <p:cNvSpPr>
            <a:spLocks xmlns:a="http://schemas.openxmlformats.org/drawingml/2006/main" noGrp="1"/>
          </p:cNvSpPr>
          <p:nvPr/>
        </p:nvSpPr>
        <p:spPr>
          <a:xfrm xmlns:a="http://schemas.openxmlformats.org/drawingml/2006/main">
            <a:off x="619125" y="2647950"/>
            <a:ext cx="107632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D8E5DA"/>
                </a:solidFill>
                <a:latin typeface="Helvetica Neue"/>
                <a:ea typeface="Helvetica Neue"/>
                <a:cs typeface="Helvetica Neue"/>
              </a:defRPr>
            </a:pPr>
            <a:r>
              <a:rPr sz="2025" b="1">
                <a:solidFill>
                  <a:srgbClr val="D8E5DA"/>
                </a:solidFill>
                <a:latin typeface="Helvetica Neue"/>
                <a:ea typeface="Helvetica Neue"/>
                <a:cs typeface="Helvetica Neue"/>
              </a:rPr>
              <a:t>Codex installation</a:t>
            </a:r>
          </a:p>
        </p:txBody>
      </p:sp>
      <p:sp>
        <p:nvSpPr>
          <p:cNvPr id="5" name="">
            <a:extLst xmlns:a="http://schemas.openxmlformats.org/drawingml/2006/main">
              <a:ext uri="{FF2B5EF4-FFF2-40B4-BE49-F238E27FC236}">
                <a16:creationId xmlns:a16="http://schemas.microsoft.com/office/drawing/2014/main" id="{0D0939BA-9132-4896-9A63-CA9D77414BA5}"/>
              </a:ext>
            </a:extLst>
          </p:cNvPr>
          <p:cNvSpPr>
            <a:spLocks xmlns:a="http://schemas.openxmlformats.org/drawingml/2006/main" noGrp="1"/>
          </p:cNvSpPr>
          <p:nvPr/>
        </p:nvSpPr>
        <p:spPr>
          <a:xfrm xmlns:a="http://schemas.openxmlformats.org/drawingml/2006/main">
            <a:off x="619125" y="320992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F4F1E7"/>
                </a:solidFill>
                <a:latin typeface="Helvetica Neue"/>
                <a:ea typeface="Helvetica Neue"/>
                <a:cs typeface="Helvetica Neue"/>
              </a:defRPr>
            </a:pPr>
            <a:r>
              <a:rPr sz="2025" b="0">
                <a:solidFill>
                  <a:srgbClr val="F4F1E7"/>
                </a:solidFill>
                <a:latin typeface="Helvetica Neue"/>
                <a:ea typeface="Helvetica Neue"/>
                <a:cs typeface="Helvetica Neue"/>
              </a:rPr>
              <a:t>codex plugin marketplace add VandanaAjayDubey111/great-pm</a:t>
            </a:r>
          </a:p>
          <a:p xmlns:a="http://schemas.openxmlformats.org/drawingml/2006/main">
            <a:pPr>
              <a:defRPr sz="2025" b="0">
                <a:solidFill>
                  <a:srgbClr val="F4F1E7"/>
                </a:solidFill>
                <a:latin typeface="Helvetica Neue"/>
                <a:ea typeface="Helvetica Neue"/>
                <a:cs typeface="Helvetica Neue"/>
              </a:defRPr>
            </a:pPr>
            <a:r>
              <a:rPr sz="2025" b="0">
                <a:solidFill>
                  <a:srgbClr val="F4F1E7"/>
                </a:solidFill>
                <a:latin typeface="Helvetica Neue"/>
                <a:ea typeface="Helvetica Neue"/>
                <a:cs typeface="Helvetica Neue"/>
              </a:rPr>
              <a:t>codex plugin add great-pm@great-pm</a:t>
            </a:r>
          </a:p>
        </p:txBody>
      </p:sp>
      <p:sp>
        <p:nvSpPr>
          <p:cNvPr id="6" name="">
            <a:extLst xmlns:a="http://schemas.openxmlformats.org/drawingml/2006/main">
              <a:ext uri="{FF2B5EF4-FFF2-40B4-BE49-F238E27FC236}">
                <a16:creationId xmlns:a16="http://schemas.microsoft.com/office/drawing/2014/main" id="{640BBF08-19A5-4863-8502-C58EE6D17F82}"/>
              </a:ext>
            </a:extLst>
          </p:cNvPr>
          <p:cNvSpPr>
            <a:spLocks xmlns:a="http://schemas.openxmlformats.org/drawingml/2006/main" noGrp="1"/>
          </p:cNvSpPr>
          <p:nvPr/>
        </p:nvSpPr>
        <p:spPr>
          <a:xfrm xmlns:a="http://schemas.openxmlformats.org/drawingml/2006/main">
            <a:off x="619125" y="4505325"/>
            <a:ext cx="107632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1">
                <a:solidFill>
                  <a:srgbClr val="F4F1E7"/>
                </a:solidFill>
                <a:latin typeface="Helvetica Neue"/>
                <a:ea typeface="Helvetica Neue"/>
                <a:cs typeface="Helvetica Neue"/>
              </a:defRPr>
            </a:pPr>
            <a:r>
              <a:rPr sz="2250" b="1">
                <a:solidFill>
                  <a:srgbClr val="F4F1E7"/>
                </a:solidFill>
                <a:latin typeface="Helvetica Neue"/>
                <a:ea typeface="Helvetica Neue"/>
                <a:cs typeface="Helvetica Neue"/>
              </a:rPr>
              <a:t>In a new session: $pm-help, $grill-me or $pm-start</a:t>
            </a:r>
          </a:p>
        </p:txBody>
      </p:sp>
      <p:sp>
        <p:nvSpPr>
          <p:cNvPr id="7" name="">
            <a:extLst xmlns:a="http://schemas.openxmlformats.org/drawingml/2006/main">
              <a:ext uri="{FF2B5EF4-FFF2-40B4-BE49-F238E27FC236}">
                <a16:creationId xmlns:a16="http://schemas.microsoft.com/office/drawing/2014/main" id="{55B1F07A-3C5A-4A36-B14D-35FBEA59D868}"/>
              </a:ext>
            </a:extLst>
          </p:cNvPr>
          <p:cNvSpPr>
            <a:spLocks xmlns:a="http://schemas.openxmlformats.org/drawingml/2006/main" noGrp="1"/>
          </p:cNvSpPr>
          <p:nvPr/>
        </p:nvSpPr>
        <p:spPr>
          <a:xfrm xmlns:a="http://schemas.openxmlformats.org/drawingml/2006/main">
            <a:off x="619125" y="5191125"/>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0">
                <a:solidFill>
                  <a:srgbClr val="D8E5DA"/>
                </a:solidFill>
                <a:latin typeface="Helvetica Neue"/>
                <a:ea typeface="Helvetica Neue"/>
                <a:cs typeface="Helvetica Neue"/>
              </a:defRPr>
            </a:pPr>
            <a:r>
              <a:rPr sz="1950" b="0">
                <a:solidFill>
                  <a:srgbClr val="D8E5DA"/>
                </a:solidFill>
                <a:latin typeface="Helvetica Neue"/>
                <a:ea typeface="Helvetica Neue"/>
                <a:cs typeface="Helvetica Neue"/>
              </a:rPr>
              <a:t>Claude Code installation and prerequisites in the repository</a:t>
            </a:r>
          </a:p>
        </p:txBody>
      </p:sp>
      <p:sp>
        <p:nvSpPr>
          <p:cNvPr id="8" name="">
            <a:extLst xmlns:a="http://schemas.openxmlformats.org/drawingml/2006/main">
              <a:ext uri="{FF2B5EF4-FFF2-40B4-BE49-F238E27FC236}">
                <a16:creationId xmlns:a16="http://schemas.microsoft.com/office/drawing/2014/main" id="{83A061B8-2747-4A48-8843-9BE4BFC1A1B7}"/>
              </a:ext>
            </a:extLst>
          </p:cNvPr>
          <p:cNvSpPr>
            <a:spLocks xmlns:a="http://schemas.openxmlformats.org/drawingml/2006/main" noGrp="1"/>
          </p:cNvSpPr>
          <p:nvPr/>
        </p:nvSpPr>
        <p:spPr>
          <a:xfrm xmlns:a="http://schemas.openxmlformats.org/drawingml/2006/main">
            <a:off x="619125" y="5962650"/>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8E5DA"/>
                </a:solidFill>
                <a:latin typeface="Helvetica Neue"/>
                <a:ea typeface="Helvetica Neue"/>
                <a:cs typeface="Helvetica Neue"/>
              </a:defRPr>
            </a:pPr>
            <a:r>
              <a:rPr sz="1650" b="0">
                <a:solidFill>
                  <a:srgbClr val="D8E5DA"/>
                </a:solidFill>
                <a:latin typeface="Helvetica Neue"/>
                <a:ea typeface="Helvetica Neue"/>
                <a:cs typeface="Helvetica Neue"/>
              </a:rPr>
              <a:t>Assignment 4 - Vandana Ajay Dubey C51</a:t>
            </a:r>
          </a:p>
        </p:txBody>
      </p:sp>
    </p:spTree>
    <p:extLst>
      <p:ext uri="{BB962C8B-B14F-4D97-AF65-F5344CB8AC3E}">
        <p14:creationId xmlns:p14="http://schemas.microsoft.com/office/powerpoint/2010/main" val="12881738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2026-09-20T16:56:12.0260000Z</dcterms:created>
  <dcterms:modified xsi:type="dcterms:W3CDTF">2026-09-20T16:56:12.0260000Z</dcterms:modified>
</coreProperties>
</file>